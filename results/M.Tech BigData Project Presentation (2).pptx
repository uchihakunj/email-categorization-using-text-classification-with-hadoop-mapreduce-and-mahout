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Arimo" panose="020B0604020202020204" pitchFamily="34" charset="0"/>
      <p:regular r:id="rId13"/>
      <p:bold r:id="rId14"/>
      <p:italic r:id="rId15"/>
      <p:boldItalic r:id="rId16"/>
    </p:embeddedFont>
    <p:embeddedFont>
      <p:font typeface="Arimo Bold" panose="020B0704020202020204" pitchFamily="34" charset="0"/>
      <p:regular r:id="rId17"/>
      <p:bold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Cormorant Garamond" panose="020B0604020202020204" charset="0"/>
      <p:regular r:id="rId23"/>
    </p:embeddedFont>
    <p:embeddedFont>
      <p:font typeface="Cormorant Garamond Bold" panose="020B0604020202020204" charset="0"/>
      <p:regular r:id="rId24"/>
    </p:embeddedFont>
    <p:embeddedFont>
      <p:font typeface="Poppins" panose="00000500000000000000" pitchFamily="2" charset="0"/>
      <p:regular r:id="rId25"/>
    </p:embeddedFont>
    <p:embeddedFont>
      <p:font typeface="Poppins Bold" panose="020B0604020202020204" charset="0"/>
      <p:regular r:id="rId26"/>
    </p:embeddedFont>
    <p:embeddedFont>
      <p:font typeface="Tex Gyre Termes" panose="020B0604020202020204" charset="0"/>
      <p:regular r:id="rId27"/>
    </p:embeddedFont>
    <p:embeddedFont>
      <p:font typeface="Tex Gyre Termes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9525" y="0"/>
            <a:ext cx="18288000" cy="10287000"/>
            <a:chOff x="0" y="0"/>
            <a:chExt cx="2438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9836799" y="0"/>
            <a:ext cx="8451201" cy="10287000"/>
          </a:xfrm>
          <a:custGeom>
            <a:avLst/>
            <a:gdLst/>
            <a:ahLst/>
            <a:cxnLst/>
            <a:rect l="l" t="t" r="r" b="b"/>
            <a:pathLst>
              <a:path w="8451201" h="10287000">
                <a:moveTo>
                  <a:pt x="0" y="0"/>
                </a:moveTo>
                <a:lnTo>
                  <a:pt x="8451201" y="0"/>
                </a:lnTo>
                <a:lnTo>
                  <a:pt x="845120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22" r="-22586" b="-872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2070648"/>
            <a:ext cx="9971420" cy="1951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30"/>
              </a:lnSpc>
              <a:spcBef>
                <a:spcPct val="0"/>
              </a:spcBef>
            </a:pPr>
            <a:r>
              <a:rPr lang="en-US" sz="5521" b="1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Email Categorization Using Hadoop + Mahout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5488273"/>
            <a:ext cx="7042415" cy="983696"/>
            <a:chOff x="0" y="0"/>
            <a:chExt cx="1854792" cy="2590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54792" cy="259081"/>
            </a:xfrm>
            <a:custGeom>
              <a:avLst/>
              <a:gdLst/>
              <a:ahLst/>
              <a:cxnLst/>
              <a:rect l="l" t="t" r="r" b="b"/>
              <a:pathLst>
                <a:path w="1854792" h="259081">
                  <a:moveTo>
                    <a:pt x="56066" y="0"/>
                  </a:moveTo>
                  <a:lnTo>
                    <a:pt x="1798727" y="0"/>
                  </a:lnTo>
                  <a:cubicBezTo>
                    <a:pt x="1813596" y="0"/>
                    <a:pt x="1827857" y="5907"/>
                    <a:pt x="1838371" y="16421"/>
                  </a:cubicBezTo>
                  <a:cubicBezTo>
                    <a:pt x="1848886" y="26936"/>
                    <a:pt x="1854792" y="41196"/>
                    <a:pt x="1854792" y="56066"/>
                  </a:cubicBezTo>
                  <a:lnTo>
                    <a:pt x="1854792" y="203015"/>
                  </a:lnTo>
                  <a:cubicBezTo>
                    <a:pt x="1854792" y="217884"/>
                    <a:pt x="1848886" y="232145"/>
                    <a:pt x="1838371" y="242659"/>
                  </a:cubicBezTo>
                  <a:cubicBezTo>
                    <a:pt x="1827857" y="253174"/>
                    <a:pt x="1813596" y="259081"/>
                    <a:pt x="1798727" y="259081"/>
                  </a:cubicBezTo>
                  <a:lnTo>
                    <a:pt x="56066" y="259081"/>
                  </a:lnTo>
                  <a:cubicBezTo>
                    <a:pt x="41196" y="259081"/>
                    <a:pt x="26936" y="253174"/>
                    <a:pt x="16421" y="242659"/>
                  </a:cubicBezTo>
                  <a:cubicBezTo>
                    <a:pt x="5907" y="232145"/>
                    <a:pt x="0" y="217884"/>
                    <a:pt x="0" y="203015"/>
                  </a:cubicBezTo>
                  <a:lnTo>
                    <a:pt x="0" y="56066"/>
                  </a:lnTo>
                  <a:cubicBezTo>
                    <a:pt x="0" y="41196"/>
                    <a:pt x="5907" y="26936"/>
                    <a:pt x="16421" y="16421"/>
                  </a:cubicBezTo>
                  <a:cubicBezTo>
                    <a:pt x="26936" y="5907"/>
                    <a:pt x="41196" y="0"/>
                    <a:pt x="56066" y="0"/>
                  </a:cubicBezTo>
                  <a:close/>
                </a:path>
              </a:pathLst>
            </a:custGeom>
            <a:solidFill>
              <a:srgbClr val="4119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54792" cy="316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86474" y="5686444"/>
            <a:ext cx="6620639" cy="501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51"/>
              </a:lnSpc>
            </a:pPr>
            <a:r>
              <a:rPr lang="en-US" sz="27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M.Tech BigData Project Presentation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2837" y="6789215"/>
            <a:ext cx="6394622" cy="217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72"/>
              </a:lnSpc>
              <a:spcBef>
                <a:spcPct val="0"/>
              </a:spcBef>
            </a:pPr>
            <a:r>
              <a:rPr lang="en-US" sz="1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Thakur Raghwendra </a:t>
            </a:r>
            <a:r>
              <a:rPr lang="en-US" sz="1266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Ajay Krishnanand • Pradhuman Singh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905150" y="2116188"/>
            <a:ext cx="8132802" cy="86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D9E1FF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The Email Overload Problem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905150" y="3473501"/>
            <a:ext cx="4518269" cy="2663581"/>
            <a:chOff x="0" y="0"/>
            <a:chExt cx="6024359" cy="35514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024372" cy="3551428"/>
            </a:xfrm>
            <a:custGeom>
              <a:avLst/>
              <a:gdLst/>
              <a:ahLst/>
              <a:cxnLst/>
              <a:rect l="l" t="t" r="r" b="b"/>
              <a:pathLst>
                <a:path w="6024372" h="3551428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5964555" y="0"/>
                  </a:lnTo>
                  <a:cubicBezTo>
                    <a:pt x="5997575" y="0"/>
                    <a:pt x="6024372" y="26797"/>
                    <a:pt x="6024372" y="59817"/>
                  </a:cubicBezTo>
                  <a:lnTo>
                    <a:pt x="6024372" y="3491611"/>
                  </a:lnTo>
                  <a:cubicBezTo>
                    <a:pt x="6024372" y="3524631"/>
                    <a:pt x="5997575" y="3551428"/>
                    <a:pt x="5964555" y="3551428"/>
                  </a:cubicBezTo>
                  <a:lnTo>
                    <a:pt x="59817" y="3551428"/>
                  </a:lnTo>
                  <a:cubicBezTo>
                    <a:pt x="26797" y="3551428"/>
                    <a:pt x="0" y="3524631"/>
                    <a:pt x="0" y="3491611"/>
                  </a:cubicBezTo>
                  <a:close/>
                </a:path>
              </a:pathLst>
            </a:custGeom>
            <a:solidFill>
              <a:srgbClr val="2B2952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8204302" y="3753593"/>
            <a:ext cx="4434630" cy="46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📧</a:t>
            </a:r>
            <a:r>
              <a:rPr lang="en-US" sz="27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Volume Crisis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04302" y="4296813"/>
            <a:ext cx="3919985" cy="1541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333 billion emails sent daily — manual sorting is impossible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722571" y="3473501"/>
            <a:ext cx="4518269" cy="2663581"/>
            <a:chOff x="0" y="0"/>
            <a:chExt cx="6024359" cy="355144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24372" cy="3551428"/>
            </a:xfrm>
            <a:custGeom>
              <a:avLst/>
              <a:gdLst/>
              <a:ahLst/>
              <a:cxnLst/>
              <a:rect l="l" t="t" r="r" b="b"/>
              <a:pathLst>
                <a:path w="6024372" h="3551428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5964555" y="0"/>
                  </a:lnTo>
                  <a:cubicBezTo>
                    <a:pt x="5997575" y="0"/>
                    <a:pt x="6024372" y="26797"/>
                    <a:pt x="6024372" y="59817"/>
                  </a:cubicBezTo>
                  <a:lnTo>
                    <a:pt x="6024372" y="3491611"/>
                  </a:lnTo>
                  <a:cubicBezTo>
                    <a:pt x="6024372" y="3524631"/>
                    <a:pt x="5997575" y="3551428"/>
                    <a:pt x="5964555" y="3551428"/>
                  </a:cubicBezTo>
                  <a:lnTo>
                    <a:pt x="59817" y="3551428"/>
                  </a:lnTo>
                  <a:cubicBezTo>
                    <a:pt x="26797" y="3551428"/>
                    <a:pt x="0" y="3524631"/>
                    <a:pt x="0" y="3491611"/>
                  </a:cubicBezTo>
                  <a:close/>
                </a:path>
              </a:pathLst>
            </a:custGeom>
            <a:solidFill>
              <a:srgbClr val="2B2952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3021713" y="3753593"/>
            <a:ext cx="4434630" cy="46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⚠️</a:t>
            </a:r>
            <a:r>
              <a:rPr lang="en-US" sz="27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Spam Threat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021713" y="4296813"/>
            <a:ext cx="3919985" cy="1062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45% of all emails are spam — phishing, scams, noise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905150" y="6436223"/>
            <a:ext cx="9335691" cy="1706013"/>
            <a:chOff x="0" y="0"/>
            <a:chExt cx="12447588" cy="22746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447524" cy="2274697"/>
            </a:xfrm>
            <a:custGeom>
              <a:avLst/>
              <a:gdLst/>
              <a:ahLst/>
              <a:cxnLst/>
              <a:rect l="l" t="t" r="r" b="b"/>
              <a:pathLst>
                <a:path w="12447524" h="2274697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2387707" y="0"/>
                  </a:lnTo>
                  <a:cubicBezTo>
                    <a:pt x="12420727" y="0"/>
                    <a:pt x="12447524" y="26797"/>
                    <a:pt x="12447524" y="59817"/>
                  </a:cubicBezTo>
                  <a:lnTo>
                    <a:pt x="12447524" y="2214880"/>
                  </a:lnTo>
                  <a:cubicBezTo>
                    <a:pt x="12447524" y="2247900"/>
                    <a:pt x="12420727" y="2274697"/>
                    <a:pt x="12387707" y="2274697"/>
                  </a:cubicBezTo>
                  <a:lnTo>
                    <a:pt x="59817" y="2274697"/>
                  </a:lnTo>
                  <a:cubicBezTo>
                    <a:pt x="26797" y="2274697"/>
                    <a:pt x="0" y="2247900"/>
                    <a:pt x="0" y="2214880"/>
                  </a:cubicBezTo>
                  <a:close/>
                </a:path>
              </a:pathLst>
            </a:custGeom>
            <a:solidFill>
              <a:srgbClr val="2B2952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8204302" y="6716316"/>
            <a:ext cx="4434630" cy="46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⚡</a:t>
            </a:r>
            <a:r>
              <a:rPr lang="en-US" sz="27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Scalability Gap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04302" y="7259536"/>
            <a:ext cx="9651806" cy="58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Traditional tools fail at distributed, large-scale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2529" y="3307387"/>
            <a:ext cx="8596934" cy="602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54"/>
              </a:lnSpc>
              <a:spcBef>
                <a:spcPct val="0"/>
              </a:spcBef>
            </a:pPr>
            <a:r>
              <a:rPr lang="en-US" sz="22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Collection &amp; Organization</a:t>
            </a:r>
          </a:p>
          <a:p>
            <a:pPr marL="0" lvl="0" indent="0" algn="just">
              <a:lnSpc>
                <a:spcPts val="3154"/>
              </a:lnSpc>
              <a:spcBef>
                <a:spcPct val="0"/>
              </a:spcBef>
            </a:pPr>
            <a:endParaRPr lang="en-US" sz="2253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43338" lvl="1" indent="-221669" algn="just">
              <a:lnSpc>
                <a:spcPts val="2874"/>
              </a:lnSpc>
              <a:spcBef>
                <a:spcPct val="0"/>
              </a:spcBef>
              <a:buFont typeface="Arial"/>
              <a:buChar char="•"/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Collected email data from the </a:t>
            </a:r>
            <a:r>
              <a:rPr lang="en-US" sz="20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SpamAssassin public corpus</a:t>
            </a: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and internal labeled samples (important and spam).</a:t>
            </a:r>
          </a:p>
          <a:p>
            <a:pPr marL="443338" lvl="1" indent="-221669" algn="just">
              <a:lnSpc>
                <a:spcPts val="2874"/>
              </a:lnSpc>
              <a:spcBef>
                <a:spcPct val="0"/>
              </a:spcBef>
              <a:buFont typeface="Arial"/>
              <a:buChar char="•"/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Stored each email as a separate file, with labels derived from folder names.</a:t>
            </a:r>
          </a:p>
          <a:p>
            <a:pPr marL="443338" lvl="1" indent="-221669" algn="just">
              <a:lnSpc>
                <a:spcPts val="2874"/>
              </a:lnSpc>
              <a:spcBef>
                <a:spcPct val="0"/>
              </a:spcBef>
              <a:buFont typeface="Arial"/>
              <a:buChar char="•"/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dataset size: 1.5 lakh emails </a:t>
            </a:r>
          </a:p>
          <a:p>
            <a:pPr algn="just">
              <a:lnSpc>
                <a:spcPts val="3154"/>
              </a:lnSpc>
              <a:spcBef>
                <a:spcPct val="0"/>
              </a:spcBef>
            </a:pPr>
            <a:endParaRPr lang="en-US" sz="205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154"/>
              </a:lnSpc>
              <a:spcBef>
                <a:spcPct val="0"/>
              </a:spcBef>
            </a:pPr>
            <a:r>
              <a:rPr lang="en-US" sz="22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Class Distribution</a:t>
            </a:r>
          </a:p>
          <a:p>
            <a:pPr marL="0" lvl="0" indent="0" algn="just">
              <a:lnSpc>
                <a:spcPts val="3154"/>
              </a:lnSpc>
              <a:spcBef>
                <a:spcPct val="0"/>
              </a:spcBef>
            </a:pPr>
            <a:endParaRPr lang="en-US" sz="2253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43338" lvl="1" indent="-221669" algn="just">
              <a:lnSpc>
                <a:spcPts val="2874"/>
              </a:lnSpc>
              <a:spcBef>
                <a:spcPct val="0"/>
              </a:spcBef>
              <a:buFont typeface="Arial"/>
              <a:buChar char="•"/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Important/Ham: 50k</a:t>
            </a:r>
          </a:p>
          <a:p>
            <a:pPr marL="443338" lvl="1" indent="-221669" algn="just">
              <a:lnSpc>
                <a:spcPts val="2874"/>
              </a:lnSpc>
              <a:spcBef>
                <a:spcPct val="0"/>
              </a:spcBef>
              <a:buFont typeface="Arial"/>
              <a:buChar char="•"/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Spam (internal): 30k</a:t>
            </a:r>
          </a:p>
          <a:p>
            <a:pPr marL="443338" lvl="1" indent="-221669" algn="just">
              <a:lnSpc>
                <a:spcPts val="2874"/>
              </a:lnSpc>
              <a:spcBef>
                <a:spcPct val="0"/>
              </a:spcBef>
              <a:buFont typeface="Arial"/>
              <a:buChar char="•"/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SpamAssassin corpus: 70k</a:t>
            </a:r>
          </a:p>
          <a:p>
            <a:pPr marL="443338" lvl="1" indent="-221669" algn="just">
              <a:lnSpc>
                <a:spcPts val="2874"/>
              </a:lnSpc>
              <a:spcBef>
                <a:spcPct val="0"/>
              </a:spcBef>
              <a:buFont typeface="Arial"/>
              <a:buChar char="•"/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Created a small test dataset (raw_sample) with 8 files for quick pipeline testing.</a:t>
            </a:r>
          </a:p>
          <a:p>
            <a:pPr marL="0" lvl="0" indent="0" algn="just">
              <a:lnSpc>
                <a:spcPts val="3154"/>
              </a:lnSpc>
              <a:spcBef>
                <a:spcPct val="0"/>
              </a:spcBef>
            </a:pPr>
            <a:endParaRPr lang="en-US" sz="205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9756189" y="1881510"/>
            <a:ext cx="7209938" cy="4314756"/>
          </a:xfrm>
          <a:custGeom>
            <a:avLst/>
            <a:gdLst/>
            <a:ahLst/>
            <a:cxnLst/>
            <a:rect l="l" t="t" r="r" b="b"/>
            <a:pathLst>
              <a:path w="7209938" h="4314756">
                <a:moveTo>
                  <a:pt x="0" y="0"/>
                </a:moveTo>
                <a:lnTo>
                  <a:pt x="7209939" y="0"/>
                </a:lnTo>
                <a:lnTo>
                  <a:pt x="7209939" y="4314756"/>
                </a:lnTo>
                <a:lnTo>
                  <a:pt x="0" y="4314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02529" y="1171575"/>
            <a:ext cx="6679101" cy="919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55"/>
              </a:lnSpc>
              <a:spcBef>
                <a:spcPct val="0"/>
              </a:spcBef>
            </a:pPr>
            <a:r>
              <a:rPr lang="en-US" sz="6995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Datasets Used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8191" y="794299"/>
            <a:ext cx="4935974" cy="86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1">
                <a:solidFill>
                  <a:srgbClr val="FFFFFF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Technology Stack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79141" y="2355952"/>
            <a:ext cx="5118049" cy="2266502"/>
            <a:chOff x="0" y="0"/>
            <a:chExt cx="6824066" cy="3022003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6773164" cy="2971165"/>
            </a:xfrm>
            <a:custGeom>
              <a:avLst/>
              <a:gdLst/>
              <a:ahLst/>
              <a:cxnLst/>
              <a:rect l="l" t="t" r="r" b="b"/>
              <a:pathLst>
                <a:path w="6773164" h="2971165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527038" y="0"/>
                  </a:lnTo>
                  <a:cubicBezTo>
                    <a:pt x="6663055" y="0"/>
                    <a:pt x="6773164" y="109220"/>
                    <a:pt x="6773164" y="243840"/>
                  </a:cubicBezTo>
                  <a:lnTo>
                    <a:pt x="6773164" y="2727325"/>
                  </a:lnTo>
                  <a:cubicBezTo>
                    <a:pt x="6773164" y="2861945"/>
                    <a:pt x="6662928" y="2971165"/>
                    <a:pt x="6527038" y="2971165"/>
                  </a:cubicBezTo>
                  <a:lnTo>
                    <a:pt x="246126" y="2971165"/>
                  </a:lnTo>
                  <a:cubicBezTo>
                    <a:pt x="110109" y="2971165"/>
                    <a:pt x="0" y="2861945"/>
                    <a:pt x="0" y="2727325"/>
                  </a:cubicBezTo>
                  <a:close/>
                </a:path>
              </a:pathLst>
            </a:custGeom>
            <a:solidFill>
              <a:srgbClr val="0C0A33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6823964" cy="3021965"/>
            </a:xfrm>
            <a:custGeom>
              <a:avLst/>
              <a:gdLst/>
              <a:ahLst/>
              <a:cxnLst/>
              <a:rect l="l" t="t" r="r" b="b"/>
              <a:pathLst>
                <a:path w="6823964" h="3021965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52438" y="0"/>
                  </a:lnTo>
                  <a:lnTo>
                    <a:pt x="6552438" y="25400"/>
                  </a:lnTo>
                  <a:lnTo>
                    <a:pt x="6552438" y="0"/>
                  </a:lnTo>
                  <a:cubicBezTo>
                    <a:pt x="6702171" y="0"/>
                    <a:pt x="6823964" y="120269"/>
                    <a:pt x="6823964" y="269240"/>
                  </a:cubicBezTo>
                  <a:lnTo>
                    <a:pt x="6798564" y="269240"/>
                  </a:lnTo>
                  <a:lnTo>
                    <a:pt x="6823964" y="269240"/>
                  </a:lnTo>
                  <a:lnTo>
                    <a:pt x="6823964" y="2752725"/>
                  </a:lnTo>
                  <a:lnTo>
                    <a:pt x="6798564" y="2752725"/>
                  </a:lnTo>
                  <a:lnTo>
                    <a:pt x="6823964" y="2752725"/>
                  </a:lnTo>
                  <a:cubicBezTo>
                    <a:pt x="6823964" y="2901696"/>
                    <a:pt x="6702171" y="3021965"/>
                    <a:pt x="6552438" y="3021965"/>
                  </a:cubicBezTo>
                  <a:lnTo>
                    <a:pt x="6552438" y="2996565"/>
                  </a:lnTo>
                  <a:lnTo>
                    <a:pt x="6552438" y="3021965"/>
                  </a:lnTo>
                  <a:lnTo>
                    <a:pt x="271526" y="3021965"/>
                  </a:lnTo>
                  <a:lnTo>
                    <a:pt x="271526" y="2996565"/>
                  </a:lnTo>
                  <a:lnTo>
                    <a:pt x="271526" y="3021965"/>
                  </a:lnTo>
                  <a:cubicBezTo>
                    <a:pt x="121793" y="3021965"/>
                    <a:pt x="0" y="2901696"/>
                    <a:pt x="0" y="275272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2725"/>
                  </a:lnTo>
                  <a:lnTo>
                    <a:pt x="25400" y="2752725"/>
                  </a:lnTo>
                  <a:lnTo>
                    <a:pt x="50800" y="2752725"/>
                  </a:lnTo>
                  <a:cubicBezTo>
                    <a:pt x="50800" y="2873121"/>
                    <a:pt x="149352" y="2971165"/>
                    <a:pt x="271526" y="2971165"/>
                  </a:cubicBezTo>
                  <a:lnTo>
                    <a:pt x="6552438" y="2971165"/>
                  </a:lnTo>
                  <a:cubicBezTo>
                    <a:pt x="6674612" y="2971165"/>
                    <a:pt x="6773164" y="2873121"/>
                    <a:pt x="6773164" y="2752725"/>
                  </a:cubicBezTo>
                  <a:lnTo>
                    <a:pt x="6773164" y="269240"/>
                  </a:lnTo>
                  <a:cubicBezTo>
                    <a:pt x="6773164" y="148844"/>
                    <a:pt x="6674612" y="50800"/>
                    <a:pt x="6552438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44426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60091" y="2375002"/>
            <a:ext cx="152400" cy="2228402"/>
            <a:chOff x="0" y="0"/>
            <a:chExt cx="203200" cy="29712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200" cy="2971165"/>
            </a:xfrm>
            <a:custGeom>
              <a:avLst/>
              <a:gdLst/>
              <a:ahLst/>
              <a:cxnLst/>
              <a:rect l="l" t="t" r="r" b="b"/>
              <a:pathLst>
                <a:path w="203200" h="2971165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lnTo>
                    <a:pt x="146177" y="0"/>
                  </a:lnTo>
                  <a:cubicBezTo>
                    <a:pt x="177673" y="0"/>
                    <a:pt x="203200" y="25527"/>
                    <a:pt x="203200" y="57023"/>
                  </a:cubicBezTo>
                  <a:lnTo>
                    <a:pt x="203200" y="2914142"/>
                  </a:lnTo>
                  <a:cubicBezTo>
                    <a:pt x="203200" y="2945638"/>
                    <a:pt x="177673" y="2971165"/>
                    <a:pt x="146177" y="2971165"/>
                  </a:cubicBezTo>
                  <a:lnTo>
                    <a:pt x="57023" y="2971165"/>
                  </a:lnTo>
                  <a:cubicBezTo>
                    <a:pt x="25527" y="2971165"/>
                    <a:pt x="0" y="2945638"/>
                    <a:pt x="0" y="2914142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435741" y="2688727"/>
            <a:ext cx="4269581" cy="428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Hadoop + HDFS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5741" y="3294012"/>
            <a:ext cx="4319140" cy="98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2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Distributed storage and processing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79141" y="4856112"/>
            <a:ext cx="5118049" cy="1821056"/>
            <a:chOff x="0" y="0"/>
            <a:chExt cx="6824066" cy="2428075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6773164" cy="2377313"/>
            </a:xfrm>
            <a:custGeom>
              <a:avLst/>
              <a:gdLst/>
              <a:ahLst/>
              <a:cxnLst/>
              <a:rect l="l" t="t" r="r" b="b"/>
              <a:pathLst>
                <a:path w="6773164" h="2377313">
                  <a:moveTo>
                    <a:pt x="0" y="243840"/>
                  </a:moveTo>
                  <a:cubicBezTo>
                    <a:pt x="0" y="109220"/>
                    <a:pt x="110617" y="0"/>
                    <a:pt x="247142" y="0"/>
                  </a:cubicBezTo>
                  <a:lnTo>
                    <a:pt x="6526022" y="0"/>
                  </a:lnTo>
                  <a:cubicBezTo>
                    <a:pt x="6662547" y="0"/>
                    <a:pt x="6773164" y="109220"/>
                    <a:pt x="6773164" y="243840"/>
                  </a:cubicBezTo>
                  <a:lnTo>
                    <a:pt x="6773164" y="2133473"/>
                  </a:lnTo>
                  <a:cubicBezTo>
                    <a:pt x="6773164" y="2268093"/>
                    <a:pt x="6662547" y="2377313"/>
                    <a:pt x="6526022" y="2377313"/>
                  </a:cubicBezTo>
                  <a:lnTo>
                    <a:pt x="247142" y="2377313"/>
                  </a:lnTo>
                  <a:cubicBezTo>
                    <a:pt x="110617" y="2377313"/>
                    <a:pt x="0" y="2268093"/>
                    <a:pt x="0" y="2133473"/>
                  </a:cubicBezTo>
                  <a:close/>
                </a:path>
              </a:pathLst>
            </a:custGeom>
            <a:solidFill>
              <a:srgbClr val="0C0A33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6823964" cy="2428113"/>
            </a:xfrm>
            <a:custGeom>
              <a:avLst/>
              <a:gdLst/>
              <a:ahLst/>
              <a:cxnLst/>
              <a:rect l="l" t="t" r="r" b="b"/>
              <a:pathLst>
                <a:path w="6823964" h="2428113">
                  <a:moveTo>
                    <a:pt x="0" y="269240"/>
                  </a:moveTo>
                  <a:cubicBezTo>
                    <a:pt x="0" y="120269"/>
                    <a:pt x="122428" y="0"/>
                    <a:pt x="272542" y="0"/>
                  </a:cubicBezTo>
                  <a:lnTo>
                    <a:pt x="6551422" y="0"/>
                  </a:lnTo>
                  <a:lnTo>
                    <a:pt x="6551422" y="25400"/>
                  </a:lnTo>
                  <a:lnTo>
                    <a:pt x="6551422" y="0"/>
                  </a:lnTo>
                  <a:cubicBezTo>
                    <a:pt x="6701663" y="0"/>
                    <a:pt x="6823964" y="120269"/>
                    <a:pt x="6823964" y="269240"/>
                  </a:cubicBezTo>
                  <a:lnTo>
                    <a:pt x="6798564" y="269240"/>
                  </a:lnTo>
                  <a:lnTo>
                    <a:pt x="6823964" y="269240"/>
                  </a:lnTo>
                  <a:lnTo>
                    <a:pt x="6823964" y="2158873"/>
                  </a:lnTo>
                  <a:lnTo>
                    <a:pt x="6798564" y="2158873"/>
                  </a:lnTo>
                  <a:lnTo>
                    <a:pt x="6823964" y="2158873"/>
                  </a:lnTo>
                  <a:cubicBezTo>
                    <a:pt x="6823964" y="2307844"/>
                    <a:pt x="6701536" y="2428113"/>
                    <a:pt x="6551422" y="2428113"/>
                  </a:cubicBezTo>
                  <a:lnTo>
                    <a:pt x="6551422" y="2402713"/>
                  </a:lnTo>
                  <a:lnTo>
                    <a:pt x="6551422" y="2428113"/>
                  </a:lnTo>
                  <a:lnTo>
                    <a:pt x="272542" y="2428113"/>
                  </a:lnTo>
                  <a:lnTo>
                    <a:pt x="272542" y="2402713"/>
                  </a:lnTo>
                  <a:lnTo>
                    <a:pt x="272542" y="2428113"/>
                  </a:lnTo>
                  <a:cubicBezTo>
                    <a:pt x="122428" y="2428113"/>
                    <a:pt x="0" y="2307844"/>
                    <a:pt x="0" y="215887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158873"/>
                  </a:lnTo>
                  <a:lnTo>
                    <a:pt x="25400" y="2158873"/>
                  </a:lnTo>
                  <a:lnTo>
                    <a:pt x="50800" y="2158873"/>
                  </a:lnTo>
                  <a:cubicBezTo>
                    <a:pt x="50800" y="2279142"/>
                    <a:pt x="149733" y="2377313"/>
                    <a:pt x="272542" y="2377313"/>
                  </a:cubicBezTo>
                  <a:lnTo>
                    <a:pt x="6551422" y="2377313"/>
                  </a:lnTo>
                  <a:cubicBezTo>
                    <a:pt x="6674231" y="2377313"/>
                    <a:pt x="6773164" y="2279142"/>
                    <a:pt x="6773164" y="2158873"/>
                  </a:cubicBezTo>
                  <a:lnTo>
                    <a:pt x="6773164" y="269240"/>
                  </a:lnTo>
                  <a:cubicBezTo>
                    <a:pt x="6773164" y="148971"/>
                    <a:pt x="6674231" y="50800"/>
                    <a:pt x="6551422" y="50800"/>
                  </a:cubicBezTo>
                  <a:lnTo>
                    <a:pt x="272542" y="50800"/>
                  </a:lnTo>
                  <a:lnTo>
                    <a:pt x="272542" y="25400"/>
                  </a:lnTo>
                  <a:lnTo>
                    <a:pt x="272542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44426B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60091" y="4875162"/>
            <a:ext cx="152400" cy="1782956"/>
            <a:chOff x="0" y="0"/>
            <a:chExt cx="203200" cy="23772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3200" cy="2377313"/>
            </a:xfrm>
            <a:custGeom>
              <a:avLst/>
              <a:gdLst/>
              <a:ahLst/>
              <a:cxnLst/>
              <a:rect l="l" t="t" r="r" b="b"/>
              <a:pathLst>
                <a:path w="203200" h="237731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lnTo>
                    <a:pt x="146177" y="0"/>
                  </a:lnTo>
                  <a:cubicBezTo>
                    <a:pt x="177673" y="0"/>
                    <a:pt x="203200" y="25527"/>
                    <a:pt x="203200" y="57023"/>
                  </a:cubicBezTo>
                  <a:lnTo>
                    <a:pt x="203200" y="2320290"/>
                  </a:lnTo>
                  <a:cubicBezTo>
                    <a:pt x="203200" y="2351786"/>
                    <a:pt x="177673" y="2377313"/>
                    <a:pt x="146177" y="2377313"/>
                  </a:cubicBezTo>
                  <a:lnTo>
                    <a:pt x="57023" y="2377313"/>
                  </a:lnTo>
                  <a:cubicBezTo>
                    <a:pt x="25527" y="2377313"/>
                    <a:pt x="0" y="2351786"/>
                    <a:pt x="0" y="2320290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435741" y="5188896"/>
            <a:ext cx="4269581" cy="428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MapReduce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35741" y="5794172"/>
            <a:ext cx="5233540" cy="54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2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Parallel text preprocessing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79141" y="6910835"/>
            <a:ext cx="5118049" cy="2266502"/>
            <a:chOff x="0" y="0"/>
            <a:chExt cx="6824066" cy="3022003"/>
          </a:xfrm>
        </p:grpSpPr>
        <p:sp>
          <p:nvSpPr>
            <p:cNvPr id="22" name="Freeform 22"/>
            <p:cNvSpPr/>
            <p:nvPr/>
          </p:nvSpPr>
          <p:spPr>
            <a:xfrm>
              <a:off x="25400" y="25400"/>
              <a:ext cx="6773164" cy="2971165"/>
            </a:xfrm>
            <a:custGeom>
              <a:avLst/>
              <a:gdLst/>
              <a:ahLst/>
              <a:cxnLst/>
              <a:rect l="l" t="t" r="r" b="b"/>
              <a:pathLst>
                <a:path w="6773164" h="2971165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6527038" y="0"/>
                  </a:lnTo>
                  <a:cubicBezTo>
                    <a:pt x="6663055" y="0"/>
                    <a:pt x="6773164" y="109220"/>
                    <a:pt x="6773164" y="243840"/>
                  </a:cubicBezTo>
                  <a:lnTo>
                    <a:pt x="6773164" y="2727325"/>
                  </a:lnTo>
                  <a:cubicBezTo>
                    <a:pt x="6773164" y="2861945"/>
                    <a:pt x="6662928" y="2971165"/>
                    <a:pt x="6527038" y="2971165"/>
                  </a:cubicBezTo>
                  <a:lnTo>
                    <a:pt x="246126" y="2971165"/>
                  </a:lnTo>
                  <a:cubicBezTo>
                    <a:pt x="110109" y="2971165"/>
                    <a:pt x="0" y="2861945"/>
                    <a:pt x="0" y="2727325"/>
                  </a:cubicBezTo>
                  <a:close/>
                </a:path>
              </a:pathLst>
            </a:custGeom>
            <a:solidFill>
              <a:srgbClr val="0C0A33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6823964" cy="3021965"/>
            </a:xfrm>
            <a:custGeom>
              <a:avLst/>
              <a:gdLst/>
              <a:ahLst/>
              <a:cxnLst/>
              <a:rect l="l" t="t" r="r" b="b"/>
              <a:pathLst>
                <a:path w="6823964" h="3021965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6552438" y="0"/>
                  </a:lnTo>
                  <a:lnTo>
                    <a:pt x="6552438" y="25400"/>
                  </a:lnTo>
                  <a:lnTo>
                    <a:pt x="6552438" y="0"/>
                  </a:lnTo>
                  <a:cubicBezTo>
                    <a:pt x="6702171" y="0"/>
                    <a:pt x="6823964" y="120269"/>
                    <a:pt x="6823964" y="269240"/>
                  </a:cubicBezTo>
                  <a:lnTo>
                    <a:pt x="6798564" y="269240"/>
                  </a:lnTo>
                  <a:lnTo>
                    <a:pt x="6823964" y="269240"/>
                  </a:lnTo>
                  <a:lnTo>
                    <a:pt x="6823964" y="2752725"/>
                  </a:lnTo>
                  <a:lnTo>
                    <a:pt x="6798564" y="2752725"/>
                  </a:lnTo>
                  <a:lnTo>
                    <a:pt x="6823964" y="2752725"/>
                  </a:lnTo>
                  <a:cubicBezTo>
                    <a:pt x="6823964" y="2901696"/>
                    <a:pt x="6702171" y="3021965"/>
                    <a:pt x="6552438" y="3021965"/>
                  </a:cubicBezTo>
                  <a:lnTo>
                    <a:pt x="6552438" y="2996565"/>
                  </a:lnTo>
                  <a:lnTo>
                    <a:pt x="6552438" y="3021965"/>
                  </a:lnTo>
                  <a:lnTo>
                    <a:pt x="271526" y="3021965"/>
                  </a:lnTo>
                  <a:lnTo>
                    <a:pt x="271526" y="2996565"/>
                  </a:lnTo>
                  <a:lnTo>
                    <a:pt x="271526" y="3021965"/>
                  </a:lnTo>
                  <a:cubicBezTo>
                    <a:pt x="121793" y="3021965"/>
                    <a:pt x="0" y="2901696"/>
                    <a:pt x="0" y="275272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52725"/>
                  </a:lnTo>
                  <a:lnTo>
                    <a:pt x="25400" y="2752725"/>
                  </a:lnTo>
                  <a:lnTo>
                    <a:pt x="50800" y="2752725"/>
                  </a:lnTo>
                  <a:cubicBezTo>
                    <a:pt x="50800" y="2873121"/>
                    <a:pt x="149352" y="2971165"/>
                    <a:pt x="271526" y="2971165"/>
                  </a:cubicBezTo>
                  <a:lnTo>
                    <a:pt x="6552438" y="2971165"/>
                  </a:lnTo>
                  <a:cubicBezTo>
                    <a:pt x="6674612" y="2971165"/>
                    <a:pt x="6773164" y="2873121"/>
                    <a:pt x="6773164" y="2752725"/>
                  </a:cubicBezTo>
                  <a:lnTo>
                    <a:pt x="6773164" y="269240"/>
                  </a:lnTo>
                  <a:cubicBezTo>
                    <a:pt x="6773164" y="148844"/>
                    <a:pt x="6674612" y="50800"/>
                    <a:pt x="6552438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352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44426B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60091" y="6929885"/>
            <a:ext cx="152400" cy="2228402"/>
            <a:chOff x="0" y="0"/>
            <a:chExt cx="203200" cy="297120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200" cy="2971165"/>
            </a:xfrm>
            <a:custGeom>
              <a:avLst/>
              <a:gdLst/>
              <a:ahLst/>
              <a:cxnLst/>
              <a:rect l="l" t="t" r="r" b="b"/>
              <a:pathLst>
                <a:path w="203200" h="2971165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lnTo>
                    <a:pt x="146177" y="0"/>
                  </a:lnTo>
                  <a:cubicBezTo>
                    <a:pt x="177673" y="0"/>
                    <a:pt x="203200" y="25527"/>
                    <a:pt x="203200" y="57023"/>
                  </a:cubicBezTo>
                  <a:lnTo>
                    <a:pt x="203200" y="2914142"/>
                  </a:lnTo>
                  <a:cubicBezTo>
                    <a:pt x="203200" y="2945638"/>
                    <a:pt x="177673" y="2971165"/>
                    <a:pt x="146177" y="2971165"/>
                  </a:cubicBezTo>
                  <a:lnTo>
                    <a:pt x="57023" y="2971165"/>
                  </a:lnTo>
                  <a:cubicBezTo>
                    <a:pt x="25527" y="2971165"/>
                    <a:pt x="0" y="2945638"/>
                    <a:pt x="0" y="2914142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435741" y="7243610"/>
            <a:ext cx="4269581" cy="428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Mahout + Naive Bayes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35741" y="7848895"/>
            <a:ext cx="4319140" cy="98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2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TF-IDF vectorisation and classification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764236" y="2355952"/>
            <a:ext cx="3362173" cy="3131191"/>
            <a:chOff x="0" y="0"/>
            <a:chExt cx="4482897" cy="4174922"/>
          </a:xfrm>
        </p:grpSpPr>
        <p:sp>
          <p:nvSpPr>
            <p:cNvPr id="29" name="Freeform 29"/>
            <p:cNvSpPr/>
            <p:nvPr/>
          </p:nvSpPr>
          <p:spPr>
            <a:xfrm>
              <a:off x="25400" y="25400"/>
              <a:ext cx="4432173" cy="4124071"/>
            </a:xfrm>
            <a:custGeom>
              <a:avLst/>
              <a:gdLst/>
              <a:ahLst/>
              <a:cxnLst/>
              <a:rect l="l" t="t" r="r" b="b"/>
              <a:pathLst>
                <a:path w="4432173" h="4124071">
                  <a:moveTo>
                    <a:pt x="0" y="243840"/>
                  </a:moveTo>
                  <a:cubicBezTo>
                    <a:pt x="0" y="109220"/>
                    <a:pt x="109220" y="0"/>
                    <a:pt x="244094" y="0"/>
                  </a:cubicBezTo>
                  <a:lnTo>
                    <a:pt x="4188079" y="0"/>
                  </a:lnTo>
                  <a:cubicBezTo>
                    <a:pt x="4322826" y="0"/>
                    <a:pt x="4432173" y="109220"/>
                    <a:pt x="4432173" y="243840"/>
                  </a:cubicBezTo>
                  <a:lnTo>
                    <a:pt x="4432173" y="3880231"/>
                  </a:lnTo>
                  <a:cubicBezTo>
                    <a:pt x="4432173" y="4014851"/>
                    <a:pt x="4322953" y="4124071"/>
                    <a:pt x="4188079" y="4124071"/>
                  </a:cubicBezTo>
                  <a:lnTo>
                    <a:pt x="244094" y="4124071"/>
                  </a:lnTo>
                  <a:cubicBezTo>
                    <a:pt x="109220" y="4124071"/>
                    <a:pt x="0" y="4014978"/>
                    <a:pt x="0" y="3880231"/>
                  </a:cubicBezTo>
                  <a:close/>
                </a:path>
              </a:pathLst>
            </a:custGeom>
            <a:solidFill>
              <a:srgbClr val="0C0A33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4482973" cy="4174871"/>
            </a:xfrm>
            <a:custGeom>
              <a:avLst/>
              <a:gdLst/>
              <a:ahLst/>
              <a:cxnLst/>
              <a:rect l="l" t="t" r="r" b="b"/>
              <a:pathLst>
                <a:path w="4482973" h="4174871">
                  <a:moveTo>
                    <a:pt x="0" y="269240"/>
                  </a:moveTo>
                  <a:cubicBezTo>
                    <a:pt x="0" y="120523"/>
                    <a:pt x="120650" y="0"/>
                    <a:pt x="269494" y="0"/>
                  </a:cubicBezTo>
                  <a:lnTo>
                    <a:pt x="4213479" y="0"/>
                  </a:lnTo>
                  <a:lnTo>
                    <a:pt x="4213479" y="25400"/>
                  </a:lnTo>
                  <a:lnTo>
                    <a:pt x="4213479" y="0"/>
                  </a:lnTo>
                  <a:cubicBezTo>
                    <a:pt x="4362323" y="0"/>
                    <a:pt x="4482973" y="120523"/>
                    <a:pt x="4482973" y="269240"/>
                  </a:cubicBezTo>
                  <a:lnTo>
                    <a:pt x="4457573" y="269240"/>
                  </a:lnTo>
                  <a:lnTo>
                    <a:pt x="4482973" y="269240"/>
                  </a:lnTo>
                  <a:lnTo>
                    <a:pt x="4482973" y="3905631"/>
                  </a:lnTo>
                  <a:lnTo>
                    <a:pt x="4457573" y="3905631"/>
                  </a:lnTo>
                  <a:lnTo>
                    <a:pt x="4482973" y="3905631"/>
                  </a:lnTo>
                  <a:cubicBezTo>
                    <a:pt x="4482973" y="4054348"/>
                    <a:pt x="4362323" y="4174871"/>
                    <a:pt x="4213479" y="4174871"/>
                  </a:cubicBezTo>
                  <a:lnTo>
                    <a:pt x="4213479" y="4149471"/>
                  </a:lnTo>
                  <a:lnTo>
                    <a:pt x="4213479" y="4174871"/>
                  </a:lnTo>
                  <a:lnTo>
                    <a:pt x="269494" y="4174871"/>
                  </a:lnTo>
                  <a:lnTo>
                    <a:pt x="269494" y="4149471"/>
                  </a:lnTo>
                  <a:lnTo>
                    <a:pt x="269494" y="4174871"/>
                  </a:lnTo>
                  <a:cubicBezTo>
                    <a:pt x="120650" y="4174871"/>
                    <a:pt x="0" y="4054348"/>
                    <a:pt x="0" y="3905631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905631"/>
                  </a:lnTo>
                  <a:lnTo>
                    <a:pt x="25400" y="3905631"/>
                  </a:lnTo>
                  <a:lnTo>
                    <a:pt x="50800" y="3905631"/>
                  </a:lnTo>
                  <a:cubicBezTo>
                    <a:pt x="50800" y="4026281"/>
                    <a:pt x="148717" y="4124071"/>
                    <a:pt x="269494" y="4124071"/>
                  </a:cubicBezTo>
                  <a:lnTo>
                    <a:pt x="4213479" y="4124071"/>
                  </a:lnTo>
                  <a:cubicBezTo>
                    <a:pt x="4334256" y="4124071"/>
                    <a:pt x="4432173" y="4026281"/>
                    <a:pt x="4432173" y="3905631"/>
                  </a:cubicBezTo>
                  <a:lnTo>
                    <a:pt x="4432173" y="269240"/>
                  </a:lnTo>
                  <a:cubicBezTo>
                    <a:pt x="4432173" y="148590"/>
                    <a:pt x="4334256" y="50800"/>
                    <a:pt x="4213479" y="50800"/>
                  </a:cubicBezTo>
                  <a:lnTo>
                    <a:pt x="269494" y="50800"/>
                  </a:lnTo>
                  <a:lnTo>
                    <a:pt x="269494" y="25400"/>
                  </a:lnTo>
                  <a:lnTo>
                    <a:pt x="269494" y="50800"/>
                  </a:lnTo>
                  <a:cubicBezTo>
                    <a:pt x="148717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44426B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745186" y="2375002"/>
            <a:ext cx="152400" cy="3093091"/>
            <a:chOff x="0" y="0"/>
            <a:chExt cx="203200" cy="412412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3200" cy="4124071"/>
            </a:xfrm>
            <a:custGeom>
              <a:avLst/>
              <a:gdLst/>
              <a:ahLst/>
              <a:cxnLst/>
              <a:rect l="l" t="t" r="r" b="b"/>
              <a:pathLst>
                <a:path w="203200" h="4124071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lnTo>
                    <a:pt x="146177" y="0"/>
                  </a:lnTo>
                  <a:cubicBezTo>
                    <a:pt x="177673" y="0"/>
                    <a:pt x="203200" y="25527"/>
                    <a:pt x="203200" y="57023"/>
                  </a:cubicBezTo>
                  <a:lnTo>
                    <a:pt x="203200" y="4067048"/>
                  </a:lnTo>
                  <a:cubicBezTo>
                    <a:pt x="203200" y="4098544"/>
                    <a:pt x="177673" y="4124071"/>
                    <a:pt x="146177" y="4124071"/>
                  </a:cubicBezTo>
                  <a:lnTo>
                    <a:pt x="57023" y="4124071"/>
                  </a:lnTo>
                  <a:cubicBezTo>
                    <a:pt x="25527" y="4124071"/>
                    <a:pt x="0" y="4098544"/>
                    <a:pt x="0" y="4067048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7220845" y="2688727"/>
            <a:ext cx="3477663" cy="428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Node.js + Express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220845" y="3294012"/>
            <a:ext cx="2563263" cy="98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2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REST API for predictions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6745186" y="5897166"/>
            <a:ext cx="3362173" cy="3131191"/>
            <a:chOff x="0" y="0"/>
            <a:chExt cx="4482897" cy="4174922"/>
          </a:xfrm>
        </p:grpSpPr>
        <p:sp>
          <p:nvSpPr>
            <p:cNvPr id="36" name="Freeform 36"/>
            <p:cNvSpPr/>
            <p:nvPr/>
          </p:nvSpPr>
          <p:spPr>
            <a:xfrm>
              <a:off x="25400" y="25400"/>
              <a:ext cx="4432173" cy="4124071"/>
            </a:xfrm>
            <a:custGeom>
              <a:avLst/>
              <a:gdLst/>
              <a:ahLst/>
              <a:cxnLst/>
              <a:rect l="l" t="t" r="r" b="b"/>
              <a:pathLst>
                <a:path w="4432173" h="4124071">
                  <a:moveTo>
                    <a:pt x="0" y="243840"/>
                  </a:moveTo>
                  <a:cubicBezTo>
                    <a:pt x="0" y="109220"/>
                    <a:pt x="109220" y="0"/>
                    <a:pt x="244094" y="0"/>
                  </a:cubicBezTo>
                  <a:lnTo>
                    <a:pt x="4188079" y="0"/>
                  </a:lnTo>
                  <a:cubicBezTo>
                    <a:pt x="4322826" y="0"/>
                    <a:pt x="4432173" y="109220"/>
                    <a:pt x="4432173" y="243840"/>
                  </a:cubicBezTo>
                  <a:lnTo>
                    <a:pt x="4432173" y="3880231"/>
                  </a:lnTo>
                  <a:cubicBezTo>
                    <a:pt x="4432173" y="4014851"/>
                    <a:pt x="4322953" y="4124071"/>
                    <a:pt x="4188079" y="4124071"/>
                  </a:cubicBezTo>
                  <a:lnTo>
                    <a:pt x="244094" y="4124071"/>
                  </a:lnTo>
                  <a:cubicBezTo>
                    <a:pt x="109220" y="4124071"/>
                    <a:pt x="0" y="4014978"/>
                    <a:pt x="0" y="3880231"/>
                  </a:cubicBezTo>
                  <a:close/>
                </a:path>
              </a:pathLst>
            </a:custGeom>
            <a:solidFill>
              <a:srgbClr val="0C0A33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4482973" cy="4174871"/>
            </a:xfrm>
            <a:custGeom>
              <a:avLst/>
              <a:gdLst/>
              <a:ahLst/>
              <a:cxnLst/>
              <a:rect l="l" t="t" r="r" b="b"/>
              <a:pathLst>
                <a:path w="4482973" h="4174871">
                  <a:moveTo>
                    <a:pt x="0" y="269240"/>
                  </a:moveTo>
                  <a:cubicBezTo>
                    <a:pt x="0" y="120523"/>
                    <a:pt x="120650" y="0"/>
                    <a:pt x="269494" y="0"/>
                  </a:cubicBezTo>
                  <a:lnTo>
                    <a:pt x="4213479" y="0"/>
                  </a:lnTo>
                  <a:lnTo>
                    <a:pt x="4213479" y="25400"/>
                  </a:lnTo>
                  <a:lnTo>
                    <a:pt x="4213479" y="0"/>
                  </a:lnTo>
                  <a:cubicBezTo>
                    <a:pt x="4362323" y="0"/>
                    <a:pt x="4482973" y="120523"/>
                    <a:pt x="4482973" y="269240"/>
                  </a:cubicBezTo>
                  <a:lnTo>
                    <a:pt x="4457573" y="269240"/>
                  </a:lnTo>
                  <a:lnTo>
                    <a:pt x="4482973" y="269240"/>
                  </a:lnTo>
                  <a:lnTo>
                    <a:pt x="4482973" y="3905631"/>
                  </a:lnTo>
                  <a:lnTo>
                    <a:pt x="4457573" y="3905631"/>
                  </a:lnTo>
                  <a:lnTo>
                    <a:pt x="4482973" y="3905631"/>
                  </a:lnTo>
                  <a:cubicBezTo>
                    <a:pt x="4482973" y="4054348"/>
                    <a:pt x="4362323" y="4174871"/>
                    <a:pt x="4213479" y="4174871"/>
                  </a:cubicBezTo>
                  <a:lnTo>
                    <a:pt x="4213479" y="4149471"/>
                  </a:lnTo>
                  <a:lnTo>
                    <a:pt x="4213479" y="4174871"/>
                  </a:lnTo>
                  <a:lnTo>
                    <a:pt x="269494" y="4174871"/>
                  </a:lnTo>
                  <a:lnTo>
                    <a:pt x="269494" y="4149471"/>
                  </a:lnTo>
                  <a:lnTo>
                    <a:pt x="269494" y="4174871"/>
                  </a:lnTo>
                  <a:cubicBezTo>
                    <a:pt x="120650" y="4174871"/>
                    <a:pt x="0" y="4054348"/>
                    <a:pt x="0" y="3905631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905631"/>
                  </a:lnTo>
                  <a:lnTo>
                    <a:pt x="25400" y="3905631"/>
                  </a:lnTo>
                  <a:lnTo>
                    <a:pt x="50800" y="3905631"/>
                  </a:lnTo>
                  <a:cubicBezTo>
                    <a:pt x="50800" y="4026281"/>
                    <a:pt x="148717" y="4124071"/>
                    <a:pt x="269494" y="4124071"/>
                  </a:cubicBezTo>
                  <a:lnTo>
                    <a:pt x="4213479" y="4124071"/>
                  </a:lnTo>
                  <a:cubicBezTo>
                    <a:pt x="4334256" y="4124071"/>
                    <a:pt x="4432173" y="4026281"/>
                    <a:pt x="4432173" y="3905631"/>
                  </a:cubicBezTo>
                  <a:lnTo>
                    <a:pt x="4432173" y="269240"/>
                  </a:lnTo>
                  <a:cubicBezTo>
                    <a:pt x="4432173" y="148590"/>
                    <a:pt x="4334256" y="50800"/>
                    <a:pt x="4213479" y="50800"/>
                  </a:cubicBezTo>
                  <a:lnTo>
                    <a:pt x="269494" y="50800"/>
                  </a:lnTo>
                  <a:lnTo>
                    <a:pt x="269494" y="25400"/>
                  </a:lnTo>
                  <a:lnTo>
                    <a:pt x="269494" y="50800"/>
                  </a:lnTo>
                  <a:cubicBezTo>
                    <a:pt x="148717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44426B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6764236" y="5935266"/>
            <a:ext cx="152400" cy="3093091"/>
            <a:chOff x="0" y="0"/>
            <a:chExt cx="203200" cy="412412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03200" cy="4124071"/>
            </a:xfrm>
            <a:custGeom>
              <a:avLst/>
              <a:gdLst/>
              <a:ahLst/>
              <a:cxnLst/>
              <a:rect l="l" t="t" r="r" b="b"/>
              <a:pathLst>
                <a:path w="203200" h="4124071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lnTo>
                    <a:pt x="146177" y="0"/>
                  </a:lnTo>
                  <a:cubicBezTo>
                    <a:pt x="177673" y="0"/>
                    <a:pt x="203200" y="25527"/>
                    <a:pt x="203200" y="57023"/>
                  </a:cubicBezTo>
                  <a:lnTo>
                    <a:pt x="203200" y="4067048"/>
                  </a:lnTo>
                  <a:cubicBezTo>
                    <a:pt x="203200" y="4098544"/>
                    <a:pt x="177673" y="4124071"/>
                    <a:pt x="146177" y="4124071"/>
                  </a:cubicBezTo>
                  <a:lnTo>
                    <a:pt x="57023" y="4124071"/>
                  </a:lnTo>
                  <a:cubicBezTo>
                    <a:pt x="25527" y="4124071"/>
                    <a:pt x="0" y="4098544"/>
                    <a:pt x="0" y="4067048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7220845" y="6172943"/>
            <a:ext cx="3477663" cy="428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React + Vite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163691" y="6834635"/>
            <a:ext cx="2563263" cy="98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2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Dark-mode dashboard UI</a:t>
            </a:r>
          </a:p>
        </p:txBody>
      </p:sp>
      <p:sp>
        <p:nvSpPr>
          <p:cNvPr id="42" name="Freeform 42"/>
          <p:cNvSpPr/>
          <p:nvPr/>
        </p:nvSpPr>
        <p:spPr>
          <a:xfrm>
            <a:off x="12973860" y="2819493"/>
            <a:ext cx="4644131" cy="4852895"/>
          </a:xfrm>
          <a:custGeom>
            <a:avLst/>
            <a:gdLst/>
            <a:ahLst/>
            <a:cxnLst/>
            <a:rect l="l" t="t" r="r" b="b"/>
            <a:pathLst>
              <a:path w="4644131" h="4852895">
                <a:moveTo>
                  <a:pt x="0" y="0"/>
                </a:moveTo>
                <a:lnTo>
                  <a:pt x="4644131" y="0"/>
                </a:lnTo>
                <a:lnTo>
                  <a:pt x="4644131" y="4852895"/>
                </a:lnTo>
                <a:lnTo>
                  <a:pt x="0" y="48528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 l="-7856" r="-7856"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1879456" y="7382417"/>
            <a:ext cx="2188808" cy="1247621"/>
          </a:xfrm>
          <a:custGeom>
            <a:avLst/>
            <a:gdLst/>
            <a:ahLst/>
            <a:cxnLst/>
            <a:rect l="l" t="t" r="r" b="b"/>
            <a:pathLst>
              <a:path w="2188808" h="1247621">
                <a:moveTo>
                  <a:pt x="0" y="0"/>
                </a:moveTo>
                <a:lnTo>
                  <a:pt x="2188808" y="0"/>
                </a:lnTo>
                <a:lnTo>
                  <a:pt x="2188808" y="1247621"/>
                </a:lnTo>
                <a:lnTo>
                  <a:pt x="0" y="12476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0726931" y="2375002"/>
            <a:ext cx="3362325" cy="3131191"/>
            <a:chOff x="0" y="0"/>
            <a:chExt cx="4483100" cy="4174922"/>
          </a:xfrm>
        </p:grpSpPr>
        <p:sp>
          <p:nvSpPr>
            <p:cNvPr id="45" name="Freeform 45"/>
            <p:cNvSpPr/>
            <p:nvPr/>
          </p:nvSpPr>
          <p:spPr>
            <a:xfrm>
              <a:off x="25400" y="25400"/>
              <a:ext cx="4432300" cy="4124071"/>
            </a:xfrm>
            <a:custGeom>
              <a:avLst/>
              <a:gdLst/>
              <a:ahLst/>
              <a:cxnLst/>
              <a:rect l="l" t="t" r="r" b="b"/>
              <a:pathLst>
                <a:path w="4432300" h="4124071">
                  <a:moveTo>
                    <a:pt x="0" y="243840"/>
                  </a:moveTo>
                  <a:cubicBezTo>
                    <a:pt x="0" y="109220"/>
                    <a:pt x="109220" y="0"/>
                    <a:pt x="244094" y="0"/>
                  </a:cubicBezTo>
                  <a:lnTo>
                    <a:pt x="4188206" y="0"/>
                  </a:lnTo>
                  <a:cubicBezTo>
                    <a:pt x="4323080" y="0"/>
                    <a:pt x="4432300" y="109220"/>
                    <a:pt x="4432300" y="243840"/>
                  </a:cubicBezTo>
                  <a:lnTo>
                    <a:pt x="4432300" y="3880231"/>
                  </a:lnTo>
                  <a:cubicBezTo>
                    <a:pt x="4432300" y="4014851"/>
                    <a:pt x="4323080" y="4124071"/>
                    <a:pt x="4188206" y="4124071"/>
                  </a:cubicBezTo>
                  <a:lnTo>
                    <a:pt x="244094" y="4124071"/>
                  </a:lnTo>
                  <a:cubicBezTo>
                    <a:pt x="109220" y="4124071"/>
                    <a:pt x="0" y="4014978"/>
                    <a:pt x="0" y="3880231"/>
                  </a:cubicBezTo>
                  <a:close/>
                </a:path>
              </a:pathLst>
            </a:custGeom>
            <a:solidFill>
              <a:srgbClr val="0C0A33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4483100" cy="4174871"/>
            </a:xfrm>
            <a:custGeom>
              <a:avLst/>
              <a:gdLst/>
              <a:ahLst/>
              <a:cxnLst/>
              <a:rect l="l" t="t" r="r" b="b"/>
              <a:pathLst>
                <a:path w="4483100" h="4174871">
                  <a:moveTo>
                    <a:pt x="0" y="269240"/>
                  </a:moveTo>
                  <a:cubicBezTo>
                    <a:pt x="0" y="120523"/>
                    <a:pt x="120650" y="0"/>
                    <a:pt x="269494" y="0"/>
                  </a:cubicBezTo>
                  <a:lnTo>
                    <a:pt x="4213606" y="0"/>
                  </a:lnTo>
                  <a:lnTo>
                    <a:pt x="4213606" y="25400"/>
                  </a:lnTo>
                  <a:lnTo>
                    <a:pt x="4213606" y="0"/>
                  </a:lnTo>
                  <a:cubicBezTo>
                    <a:pt x="4362450" y="0"/>
                    <a:pt x="4483100" y="120523"/>
                    <a:pt x="4483100" y="269240"/>
                  </a:cubicBezTo>
                  <a:lnTo>
                    <a:pt x="4457700" y="269240"/>
                  </a:lnTo>
                  <a:lnTo>
                    <a:pt x="4483100" y="269240"/>
                  </a:lnTo>
                  <a:lnTo>
                    <a:pt x="4483100" y="3905631"/>
                  </a:lnTo>
                  <a:lnTo>
                    <a:pt x="4457700" y="3905631"/>
                  </a:lnTo>
                  <a:lnTo>
                    <a:pt x="4483100" y="3905631"/>
                  </a:lnTo>
                  <a:cubicBezTo>
                    <a:pt x="4483100" y="4054348"/>
                    <a:pt x="4362450" y="4174871"/>
                    <a:pt x="4213606" y="4174871"/>
                  </a:cubicBezTo>
                  <a:lnTo>
                    <a:pt x="4213606" y="4149471"/>
                  </a:lnTo>
                  <a:lnTo>
                    <a:pt x="4213606" y="4174871"/>
                  </a:lnTo>
                  <a:lnTo>
                    <a:pt x="269494" y="4174871"/>
                  </a:lnTo>
                  <a:lnTo>
                    <a:pt x="269494" y="4149471"/>
                  </a:lnTo>
                  <a:lnTo>
                    <a:pt x="269494" y="4174871"/>
                  </a:lnTo>
                  <a:cubicBezTo>
                    <a:pt x="120650" y="4174871"/>
                    <a:pt x="0" y="4054348"/>
                    <a:pt x="0" y="3905631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905631"/>
                  </a:lnTo>
                  <a:lnTo>
                    <a:pt x="25400" y="3905631"/>
                  </a:lnTo>
                  <a:lnTo>
                    <a:pt x="50800" y="3905631"/>
                  </a:lnTo>
                  <a:cubicBezTo>
                    <a:pt x="50800" y="4026281"/>
                    <a:pt x="148717" y="4124071"/>
                    <a:pt x="269494" y="4124071"/>
                  </a:cubicBezTo>
                  <a:lnTo>
                    <a:pt x="4213606" y="4124071"/>
                  </a:lnTo>
                  <a:cubicBezTo>
                    <a:pt x="4334383" y="4124071"/>
                    <a:pt x="4432300" y="4026281"/>
                    <a:pt x="4432300" y="3905631"/>
                  </a:cubicBezTo>
                  <a:lnTo>
                    <a:pt x="4432300" y="269240"/>
                  </a:lnTo>
                  <a:cubicBezTo>
                    <a:pt x="4432300" y="148590"/>
                    <a:pt x="4334383" y="50800"/>
                    <a:pt x="4213606" y="50800"/>
                  </a:cubicBezTo>
                  <a:lnTo>
                    <a:pt x="269494" y="50800"/>
                  </a:lnTo>
                  <a:lnTo>
                    <a:pt x="269494" y="25400"/>
                  </a:lnTo>
                  <a:lnTo>
                    <a:pt x="269494" y="50800"/>
                  </a:lnTo>
                  <a:cubicBezTo>
                    <a:pt x="148717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44426B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0726931" y="2413102"/>
            <a:ext cx="152400" cy="3093091"/>
            <a:chOff x="0" y="0"/>
            <a:chExt cx="203200" cy="412412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03200" cy="4124071"/>
            </a:xfrm>
            <a:custGeom>
              <a:avLst/>
              <a:gdLst/>
              <a:ahLst/>
              <a:cxnLst/>
              <a:rect l="l" t="t" r="r" b="b"/>
              <a:pathLst>
                <a:path w="203200" h="4124071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lnTo>
                    <a:pt x="146177" y="0"/>
                  </a:lnTo>
                  <a:cubicBezTo>
                    <a:pt x="177673" y="0"/>
                    <a:pt x="203200" y="25527"/>
                    <a:pt x="203200" y="57023"/>
                  </a:cubicBezTo>
                  <a:lnTo>
                    <a:pt x="203200" y="4067048"/>
                  </a:lnTo>
                  <a:cubicBezTo>
                    <a:pt x="203200" y="4098544"/>
                    <a:pt x="177673" y="4124071"/>
                    <a:pt x="146177" y="4124071"/>
                  </a:cubicBezTo>
                  <a:lnTo>
                    <a:pt x="57023" y="4124071"/>
                  </a:lnTo>
                  <a:cubicBezTo>
                    <a:pt x="25527" y="4124071"/>
                    <a:pt x="0" y="4098544"/>
                    <a:pt x="0" y="4067048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id="49" name="TextBox 49"/>
          <p:cNvSpPr txBox="1"/>
          <p:nvPr/>
        </p:nvSpPr>
        <p:spPr>
          <a:xfrm>
            <a:off x="11126386" y="2688731"/>
            <a:ext cx="2563416" cy="84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Ubuntu WSL2 + Bash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117008" y="3711921"/>
            <a:ext cx="2563416" cy="1431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2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Development environment and automation scripts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</p:sp>
      </p:grpSp>
      <p:sp>
        <p:nvSpPr>
          <p:cNvPr id="6" name="Freeform 6" descr="preencoded.png"/>
          <p:cNvSpPr/>
          <p:nvPr/>
        </p:nvSpPr>
        <p:spPr>
          <a:xfrm>
            <a:off x="1490815" y="4056907"/>
            <a:ext cx="357635" cy="357635"/>
          </a:xfrm>
          <a:custGeom>
            <a:avLst/>
            <a:gdLst/>
            <a:ahLst/>
            <a:cxnLst/>
            <a:rect l="l" t="t" r="r" b="b"/>
            <a:pathLst>
              <a:path w="357635" h="357635">
                <a:moveTo>
                  <a:pt x="0" y="0"/>
                </a:moveTo>
                <a:lnTo>
                  <a:pt x="357635" y="0"/>
                </a:lnTo>
                <a:lnTo>
                  <a:pt x="357635" y="357635"/>
                </a:lnTo>
                <a:lnTo>
                  <a:pt x="0" y="357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894" r="-7894"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490815" y="5159426"/>
            <a:ext cx="357635" cy="357635"/>
          </a:xfrm>
          <a:custGeom>
            <a:avLst/>
            <a:gdLst/>
            <a:ahLst/>
            <a:cxnLst/>
            <a:rect l="l" t="t" r="r" b="b"/>
            <a:pathLst>
              <a:path w="357635" h="357635">
                <a:moveTo>
                  <a:pt x="0" y="0"/>
                </a:moveTo>
                <a:lnTo>
                  <a:pt x="357635" y="0"/>
                </a:lnTo>
                <a:lnTo>
                  <a:pt x="357635" y="357635"/>
                </a:lnTo>
                <a:lnTo>
                  <a:pt x="0" y="357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894" r="-7894"/>
            </a:stretch>
          </a:blipFill>
        </p:spPr>
      </p:sp>
      <p:sp>
        <p:nvSpPr>
          <p:cNvPr id="8" name="Freeform 8" descr="preencoded.png"/>
          <p:cNvSpPr/>
          <p:nvPr/>
        </p:nvSpPr>
        <p:spPr>
          <a:xfrm>
            <a:off x="1490815" y="6261945"/>
            <a:ext cx="357635" cy="357635"/>
          </a:xfrm>
          <a:custGeom>
            <a:avLst/>
            <a:gdLst/>
            <a:ahLst/>
            <a:cxnLst/>
            <a:rect l="l" t="t" r="r" b="b"/>
            <a:pathLst>
              <a:path w="357635" h="357635">
                <a:moveTo>
                  <a:pt x="0" y="0"/>
                </a:moveTo>
                <a:lnTo>
                  <a:pt x="357635" y="0"/>
                </a:lnTo>
                <a:lnTo>
                  <a:pt x="357635" y="357635"/>
                </a:lnTo>
                <a:lnTo>
                  <a:pt x="0" y="357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894" r="-7894"/>
            </a:stretch>
          </a:blipFill>
        </p:spPr>
      </p:sp>
      <p:sp>
        <p:nvSpPr>
          <p:cNvPr id="9" name="Freeform 9" descr="preencoded.png"/>
          <p:cNvSpPr/>
          <p:nvPr/>
        </p:nvSpPr>
        <p:spPr>
          <a:xfrm>
            <a:off x="1490815" y="7364463"/>
            <a:ext cx="357635" cy="357635"/>
          </a:xfrm>
          <a:custGeom>
            <a:avLst/>
            <a:gdLst/>
            <a:ahLst/>
            <a:cxnLst/>
            <a:rect l="l" t="t" r="r" b="b"/>
            <a:pathLst>
              <a:path w="357635" h="357635">
                <a:moveTo>
                  <a:pt x="0" y="0"/>
                </a:moveTo>
                <a:lnTo>
                  <a:pt x="357635" y="0"/>
                </a:lnTo>
                <a:lnTo>
                  <a:pt x="357635" y="357635"/>
                </a:lnTo>
                <a:lnTo>
                  <a:pt x="0" y="357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894" r="-7894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444190" y="1777013"/>
            <a:ext cx="7451522" cy="7451522"/>
            <a:chOff x="0" y="0"/>
            <a:chExt cx="9935362" cy="993536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9935337" cy="9935337"/>
            </a:xfrm>
            <a:custGeom>
              <a:avLst/>
              <a:gdLst/>
              <a:ahLst/>
              <a:cxnLst/>
              <a:rect l="l" t="t" r="r" b="b"/>
              <a:pathLst>
                <a:path w="9935337" h="9935337">
                  <a:moveTo>
                    <a:pt x="0" y="0"/>
                  </a:moveTo>
                  <a:lnTo>
                    <a:pt x="9935337" y="0"/>
                  </a:lnTo>
                  <a:lnTo>
                    <a:pt x="9935337" y="9935337"/>
                  </a:lnTo>
                  <a:lnTo>
                    <a:pt x="0" y="99353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21A9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511644" y="1844467"/>
            <a:ext cx="7316613" cy="7316613"/>
            <a:chOff x="0" y="0"/>
            <a:chExt cx="9935362" cy="9935362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9935337" cy="9935337"/>
            </a:xfrm>
            <a:custGeom>
              <a:avLst/>
              <a:gdLst/>
              <a:ahLst/>
              <a:cxnLst/>
              <a:rect l="l" t="t" r="r" b="b"/>
              <a:pathLst>
                <a:path w="9935337" h="9935337">
                  <a:moveTo>
                    <a:pt x="0" y="0"/>
                  </a:moveTo>
                  <a:lnTo>
                    <a:pt x="9935337" y="0"/>
                  </a:lnTo>
                  <a:lnTo>
                    <a:pt x="9935337" y="9935337"/>
                  </a:lnTo>
                  <a:lnTo>
                    <a:pt x="0" y="9935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401518" y="682228"/>
            <a:ext cx="5694522" cy="86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1">
                <a:solidFill>
                  <a:srgbClr val="FFFFFF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System Architecture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1518" y="2331096"/>
            <a:ext cx="7451522" cy="742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End-to-end pipeline — raw emails to classified predictions — fully automated and distributed.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76310" y="4040086"/>
            <a:ext cx="3719512" cy="36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Raw Emails → HDFS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76310" y="5142605"/>
            <a:ext cx="3784254" cy="36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MapReduce Preprocessing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76310" y="6245123"/>
            <a:ext cx="3719512" cy="36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TF-IDF + Mahout NB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76310" y="7347642"/>
            <a:ext cx="4426144" cy="36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Express API → React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75D2B0-D5E0-99DB-4DE5-01A3BF607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8642F4D-D654-F1B8-AC1A-18812B44B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06"/>
          <a:stretch>
            <a:fillRect/>
          </a:stretch>
        </p:blipFill>
        <p:spPr>
          <a:xfrm>
            <a:off x="803304" y="495300"/>
            <a:ext cx="16681391" cy="929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15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65444" y="816321"/>
            <a:ext cx="9679900" cy="86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1">
                <a:solidFill>
                  <a:srgbClr val="FFFFFF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HDFS + MapReduce Preprocessing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65444" y="2794102"/>
            <a:ext cx="10396538" cy="5891365"/>
            <a:chOff x="0" y="0"/>
            <a:chExt cx="13862050" cy="7855153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3862050" cy="7855204"/>
            </a:xfrm>
            <a:custGeom>
              <a:avLst/>
              <a:gdLst/>
              <a:ahLst/>
              <a:cxnLst/>
              <a:rect l="l" t="t" r="r" b="b"/>
              <a:pathLst>
                <a:path w="13862050" h="7855204">
                  <a:moveTo>
                    <a:pt x="0" y="0"/>
                  </a:moveTo>
                  <a:lnTo>
                    <a:pt x="13862050" y="0"/>
                  </a:lnTo>
                  <a:lnTo>
                    <a:pt x="13862050" y="7855204"/>
                  </a:lnTo>
                  <a:lnTo>
                    <a:pt x="0" y="7855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6" b="-15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2044515" y="2323652"/>
            <a:ext cx="1699622" cy="504825"/>
            <a:chOff x="0" y="0"/>
            <a:chExt cx="2266163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6188" cy="673100"/>
            </a:xfrm>
            <a:custGeom>
              <a:avLst/>
              <a:gdLst/>
              <a:ahLst/>
              <a:cxnLst/>
              <a:rect l="l" t="t" r="r" b="b"/>
              <a:pathLst>
                <a:path w="2266188" h="673100">
                  <a:moveTo>
                    <a:pt x="0" y="44196"/>
                  </a:moveTo>
                  <a:cubicBezTo>
                    <a:pt x="0" y="19812"/>
                    <a:pt x="19812" y="0"/>
                    <a:pt x="44196" y="0"/>
                  </a:cubicBezTo>
                  <a:lnTo>
                    <a:pt x="2221992" y="0"/>
                  </a:lnTo>
                  <a:cubicBezTo>
                    <a:pt x="2246376" y="0"/>
                    <a:pt x="2266188" y="19812"/>
                    <a:pt x="2266188" y="44196"/>
                  </a:cubicBezTo>
                  <a:lnTo>
                    <a:pt x="2266188" y="628904"/>
                  </a:lnTo>
                  <a:cubicBezTo>
                    <a:pt x="2266188" y="653288"/>
                    <a:pt x="2246376" y="673100"/>
                    <a:pt x="2221992" y="673100"/>
                  </a:cubicBezTo>
                  <a:lnTo>
                    <a:pt x="44196" y="673100"/>
                  </a:lnTo>
                  <a:cubicBezTo>
                    <a:pt x="19812" y="673100"/>
                    <a:pt x="0" y="653288"/>
                    <a:pt x="0" y="628904"/>
                  </a:cubicBezTo>
                  <a:close/>
                </a:path>
              </a:pathLst>
            </a:custGeom>
            <a:solidFill>
              <a:srgbClr val="0F004D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2210012" y="2330206"/>
            <a:ext cx="2283028" cy="415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7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HDFS LAYER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44515" y="2920603"/>
            <a:ext cx="4159596" cy="415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Distributed Storage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44515" y="3513830"/>
            <a:ext cx="5287413" cy="1535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6730" lvl="1" indent="-253365" algn="l">
              <a:lnSpc>
                <a:spcPts val="3225"/>
              </a:lnSpc>
              <a:buFont typeface="Arial"/>
              <a:buChar char="•"/>
            </a:pPr>
            <a:r>
              <a:rPr lang="en-US" sz="21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Emails uploaded to /email_project/raw</a:t>
            </a:r>
          </a:p>
          <a:p>
            <a:pPr marL="506730" lvl="1" indent="-253365" algn="l">
              <a:lnSpc>
                <a:spcPts val="3225"/>
              </a:lnSpc>
              <a:buFont typeface="Arial"/>
              <a:buChar char="•"/>
            </a:pPr>
            <a:r>
              <a:rPr lang="en-US" sz="21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Labels inherited from folder names</a:t>
            </a:r>
          </a:p>
          <a:p>
            <a:pPr marL="506730" lvl="1" indent="-253365" algn="l">
              <a:lnSpc>
                <a:spcPts val="3225"/>
              </a:lnSpc>
              <a:buFont typeface="Arial"/>
              <a:buChar char="•"/>
            </a:pPr>
            <a:r>
              <a:rPr lang="en-US" sz="21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Replication ensures fault tolerance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044515" y="5404094"/>
            <a:ext cx="5287413" cy="20688"/>
            <a:chOff x="0" y="0"/>
            <a:chExt cx="7049884" cy="275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49897" cy="27559"/>
            </a:xfrm>
            <a:custGeom>
              <a:avLst/>
              <a:gdLst/>
              <a:ahLst/>
              <a:cxnLst/>
              <a:rect l="l" t="t" r="r" b="b"/>
              <a:pathLst>
                <a:path w="7049897" h="27559">
                  <a:moveTo>
                    <a:pt x="0" y="0"/>
                  </a:moveTo>
                  <a:lnTo>
                    <a:pt x="7049897" y="0"/>
                  </a:lnTo>
                  <a:lnTo>
                    <a:pt x="7049897" y="27559"/>
                  </a:lnTo>
                  <a:lnTo>
                    <a:pt x="0" y="27559"/>
                  </a:lnTo>
                  <a:close/>
                </a:path>
              </a:pathLst>
            </a:custGeom>
            <a:solidFill>
              <a:srgbClr val="D9E1FF">
                <a:alpha val="24706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2044515" y="5779741"/>
            <a:ext cx="2508647" cy="504825"/>
            <a:chOff x="0" y="0"/>
            <a:chExt cx="3344862" cy="673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344926" cy="673100"/>
            </a:xfrm>
            <a:custGeom>
              <a:avLst/>
              <a:gdLst/>
              <a:ahLst/>
              <a:cxnLst/>
              <a:rect l="l" t="t" r="r" b="b"/>
              <a:pathLst>
                <a:path w="3344926" h="673100">
                  <a:moveTo>
                    <a:pt x="0" y="44196"/>
                  </a:moveTo>
                  <a:cubicBezTo>
                    <a:pt x="0" y="19812"/>
                    <a:pt x="19812" y="0"/>
                    <a:pt x="44196" y="0"/>
                  </a:cubicBezTo>
                  <a:lnTo>
                    <a:pt x="3300730" y="0"/>
                  </a:lnTo>
                  <a:cubicBezTo>
                    <a:pt x="3325114" y="0"/>
                    <a:pt x="3344926" y="19812"/>
                    <a:pt x="3344926" y="44196"/>
                  </a:cubicBezTo>
                  <a:lnTo>
                    <a:pt x="3344926" y="628904"/>
                  </a:lnTo>
                  <a:cubicBezTo>
                    <a:pt x="3344926" y="653288"/>
                    <a:pt x="3325114" y="673100"/>
                    <a:pt x="3300730" y="673100"/>
                  </a:cubicBezTo>
                  <a:lnTo>
                    <a:pt x="44196" y="673100"/>
                  </a:lnTo>
                  <a:cubicBezTo>
                    <a:pt x="19812" y="673100"/>
                    <a:pt x="0" y="653288"/>
                    <a:pt x="0" y="628904"/>
                  </a:cubicBezTo>
                  <a:close/>
                </a:path>
              </a:pathLst>
            </a:custGeom>
            <a:solidFill>
              <a:srgbClr val="0F004D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2210012" y="5786285"/>
            <a:ext cx="3092053" cy="415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7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MAPREDUCE LAYER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44515" y="6376692"/>
            <a:ext cx="4159596" cy="415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Scalable Preprocessing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44515" y="6931819"/>
            <a:ext cx="5287413" cy="2421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6730" lvl="1" indent="-253365" algn="l">
              <a:lnSpc>
                <a:spcPts val="3225"/>
              </a:lnSpc>
              <a:buFont typeface="Arial"/>
              <a:buChar char="•"/>
            </a:pPr>
            <a:r>
              <a:rPr lang="en-US" sz="2100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WholeFileInputFormat reads full emails</a:t>
            </a:r>
          </a:p>
          <a:p>
            <a:pPr marL="506730" lvl="1" indent="-253365" algn="l">
              <a:lnSpc>
                <a:spcPts val="3225"/>
              </a:lnSpc>
              <a:buFont typeface="Arial"/>
              <a:buChar char="•"/>
            </a:pPr>
            <a:r>
              <a:rPr lang="en-US" sz="21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Tokenises text, removes symbols and stop-words</a:t>
            </a:r>
          </a:p>
          <a:p>
            <a:pPr marL="506730" lvl="1" indent="-253365" algn="l">
              <a:lnSpc>
                <a:spcPts val="3225"/>
              </a:lnSpc>
              <a:buFont typeface="Arial"/>
              <a:buChar char="•"/>
            </a:pPr>
            <a:r>
              <a:rPr lang="en-US" sz="21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Output stored back in HDFS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401518" y="682228"/>
            <a:ext cx="8369618" cy="86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1">
                <a:solidFill>
                  <a:srgbClr val="FFFFFF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TF-IDF + Mahout Naive Bayes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01518" y="3007814"/>
            <a:ext cx="3781425" cy="36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How Classification Works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87231" y="3567408"/>
            <a:ext cx="7480106" cy="1445714"/>
            <a:chOff x="0" y="0"/>
            <a:chExt cx="9973475" cy="1927619"/>
          </a:xfrm>
        </p:grpSpPr>
        <p:sp>
          <p:nvSpPr>
            <p:cNvPr id="9" name="Freeform 9"/>
            <p:cNvSpPr/>
            <p:nvPr/>
          </p:nvSpPr>
          <p:spPr>
            <a:xfrm>
              <a:off x="19050" y="19050"/>
              <a:ext cx="9935337" cy="1889506"/>
            </a:xfrm>
            <a:custGeom>
              <a:avLst/>
              <a:gdLst/>
              <a:ahLst/>
              <a:cxnLst/>
              <a:rect l="l" t="t" r="r" b="b"/>
              <a:pathLst>
                <a:path w="9935337" h="1889506">
                  <a:moveTo>
                    <a:pt x="0" y="182880"/>
                  </a:moveTo>
                  <a:cubicBezTo>
                    <a:pt x="0" y="81915"/>
                    <a:pt x="83185" y="0"/>
                    <a:pt x="185801" y="0"/>
                  </a:cubicBezTo>
                  <a:lnTo>
                    <a:pt x="9749536" y="0"/>
                  </a:lnTo>
                  <a:cubicBezTo>
                    <a:pt x="9852152" y="0"/>
                    <a:pt x="9935337" y="81915"/>
                    <a:pt x="9935337" y="182880"/>
                  </a:cubicBezTo>
                  <a:lnTo>
                    <a:pt x="9935337" y="1706626"/>
                  </a:lnTo>
                  <a:cubicBezTo>
                    <a:pt x="9935337" y="1807591"/>
                    <a:pt x="9852152" y="1889506"/>
                    <a:pt x="9749536" y="1889506"/>
                  </a:cubicBezTo>
                  <a:lnTo>
                    <a:pt x="185801" y="1889506"/>
                  </a:lnTo>
                  <a:cubicBezTo>
                    <a:pt x="83185" y="1889506"/>
                    <a:pt x="0" y="1807591"/>
                    <a:pt x="0" y="1706626"/>
                  </a:cubicBezTo>
                  <a:close/>
                </a:path>
              </a:pathLst>
            </a:custGeom>
            <a:solidFill>
              <a:srgbClr val="0C0A33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973437" cy="1927606"/>
            </a:xfrm>
            <a:custGeom>
              <a:avLst/>
              <a:gdLst/>
              <a:ahLst/>
              <a:cxnLst/>
              <a:rect l="l" t="t" r="r" b="b"/>
              <a:pathLst>
                <a:path w="9973437" h="1927606">
                  <a:moveTo>
                    <a:pt x="0" y="201930"/>
                  </a:moveTo>
                  <a:cubicBezTo>
                    <a:pt x="0" y="90170"/>
                    <a:pt x="92075" y="0"/>
                    <a:pt x="204851" y="0"/>
                  </a:cubicBezTo>
                  <a:lnTo>
                    <a:pt x="9768586" y="0"/>
                  </a:lnTo>
                  <a:lnTo>
                    <a:pt x="9768586" y="19050"/>
                  </a:lnTo>
                  <a:lnTo>
                    <a:pt x="9768586" y="0"/>
                  </a:lnTo>
                  <a:cubicBezTo>
                    <a:pt x="9881489" y="0"/>
                    <a:pt x="9973437" y="90170"/>
                    <a:pt x="9973437" y="201930"/>
                  </a:cubicBezTo>
                  <a:lnTo>
                    <a:pt x="9954387" y="201930"/>
                  </a:lnTo>
                  <a:lnTo>
                    <a:pt x="9973437" y="201930"/>
                  </a:lnTo>
                  <a:lnTo>
                    <a:pt x="9973437" y="1725676"/>
                  </a:lnTo>
                  <a:lnTo>
                    <a:pt x="9954387" y="1725676"/>
                  </a:lnTo>
                  <a:lnTo>
                    <a:pt x="9973437" y="1725676"/>
                  </a:lnTo>
                  <a:cubicBezTo>
                    <a:pt x="9973437" y="1837436"/>
                    <a:pt x="9881362" y="1927606"/>
                    <a:pt x="9768586" y="1927606"/>
                  </a:cubicBezTo>
                  <a:lnTo>
                    <a:pt x="9768586" y="1908556"/>
                  </a:lnTo>
                  <a:lnTo>
                    <a:pt x="9768586" y="1927606"/>
                  </a:lnTo>
                  <a:lnTo>
                    <a:pt x="204851" y="1927606"/>
                  </a:lnTo>
                  <a:lnTo>
                    <a:pt x="204851" y="1908556"/>
                  </a:lnTo>
                  <a:lnTo>
                    <a:pt x="204851" y="1927606"/>
                  </a:lnTo>
                  <a:cubicBezTo>
                    <a:pt x="91948" y="1927606"/>
                    <a:pt x="0" y="1837436"/>
                    <a:pt x="0" y="172567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725676"/>
                  </a:lnTo>
                  <a:lnTo>
                    <a:pt x="19050" y="1725676"/>
                  </a:lnTo>
                  <a:lnTo>
                    <a:pt x="38100" y="1725676"/>
                  </a:lnTo>
                  <a:cubicBezTo>
                    <a:pt x="38100" y="1815846"/>
                    <a:pt x="112522" y="1889506"/>
                    <a:pt x="204851" y="1889506"/>
                  </a:cubicBezTo>
                  <a:lnTo>
                    <a:pt x="9768586" y="1889506"/>
                  </a:lnTo>
                  <a:cubicBezTo>
                    <a:pt x="9861042" y="1889506"/>
                    <a:pt x="9935337" y="1815846"/>
                    <a:pt x="9935337" y="1725676"/>
                  </a:cubicBezTo>
                  <a:lnTo>
                    <a:pt x="9935337" y="201930"/>
                  </a:lnTo>
                  <a:cubicBezTo>
                    <a:pt x="9935337" y="111760"/>
                    <a:pt x="9860915" y="38100"/>
                    <a:pt x="9768586" y="38100"/>
                  </a:cubicBezTo>
                  <a:lnTo>
                    <a:pt x="204851" y="38100"/>
                  </a:lnTo>
                  <a:lnTo>
                    <a:pt x="204851" y="19050"/>
                  </a:lnTo>
                  <a:lnTo>
                    <a:pt x="204851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44426B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372943" y="3581695"/>
            <a:ext cx="114300" cy="1417139"/>
            <a:chOff x="0" y="0"/>
            <a:chExt cx="152400" cy="18895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00" cy="1889633"/>
            </a:xfrm>
            <a:custGeom>
              <a:avLst/>
              <a:gdLst/>
              <a:ahLst/>
              <a:cxnLst/>
              <a:rect l="l" t="t" r="r" b="b"/>
              <a:pathLst>
                <a:path w="152400" h="1889633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104648" y="0"/>
                  </a:lnTo>
                  <a:cubicBezTo>
                    <a:pt x="131064" y="0"/>
                    <a:pt x="152400" y="21336"/>
                    <a:pt x="152400" y="47752"/>
                  </a:cubicBezTo>
                  <a:lnTo>
                    <a:pt x="152400" y="1841881"/>
                  </a:lnTo>
                  <a:cubicBezTo>
                    <a:pt x="152400" y="1868170"/>
                    <a:pt x="131064" y="1889633"/>
                    <a:pt x="104648" y="1889633"/>
                  </a:cubicBezTo>
                  <a:lnTo>
                    <a:pt x="47752" y="1889633"/>
                  </a:lnTo>
                  <a:cubicBezTo>
                    <a:pt x="21463" y="1889633"/>
                    <a:pt x="0" y="1868297"/>
                    <a:pt x="0" y="1841881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754238" y="3839175"/>
            <a:ext cx="3719512" cy="36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TF-IDF Vectorisation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4238" y="4332094"/>
            <a:ext cx="7746206" cy="39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Converts text into weighted numerical features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87231" y="5174456"/>
            <a:ext cx="7480106" cy="1455239"/>
            <a:chOff x="0" y="0"/>
            <a:chExt cx="9973475" cy="1940319"/>
          </a:xfrm>
        </p:grpSpPr>
        <p:sp>
          <p:nvSpPr>
            <p:cNvPr id="16" name="Freeform 16"/>
            <p:cNvSpPr/>
            <p:nvPr/>
          </p:nvSpPr>
          <p:spPr>
            <a:xfrm>
              <a:off x="19050" y="19050"/>
              <a:ext cx="9935337" cy="1902206"/>
            </a:xfrm>
            <a:custGeom>
              <a:avLst/>
              <a:gdLst/>
              <a:ahLst/>
              <a:cxnLst/>
              <a:rect l="l" t="t" r="r" b="b"/>
              <a:pathLst>
                <a:path w="9935337" h="1902206">
                  <a:moveTo>
                    <a:pt x="0" y="182880"/>
                  </a:moveTo>
                  <a:cubicBezTo>
                    <a:pt x="0" y="81915"/>
                    <a:pt x="83185" y="0"/>
                    <a:pt x="185801" y="0"/>
                  </a:cubicBezTo>
                  <a:lnTo>
                    <a:pt x="9749536" y="0"/>
                  </a:lnTo>
                  <a:cubicBezTo>
                    <a:pt x="9852152" y="0"/>
                    <a:pt x="9935337" y="81915"/>
                    <a:pt x="9935337" y="182880"/>
                  </a:cubicBezTo>
                  <a:lnTo>
                    <a:pt x="9935337" y="1719326"/>
                  </a:lnTo>
                  <a:cubicBezTo>
                    <a:pt x="9935337" y="1820291"/>
                    <a:pt x="9852152" y="1902206"/>
                    <a:pt x="9749536" y="1902206"/>
                  </a:cubicBezTo>
                  <a:lnTo>
                    <a:pt x="185801" y="1902206"/>
                  </a:lnTo>
                  <a:cubicBezTo>
                    <a:pt x="83185" y="1902206"/>
                    <a:pt x="0" y="1820291"/>
                    <a:pt x="0" y="1719326"/>
                  </a:cubicBezTo>
                  <a:close/>
                </a:path>
              </a:pathLst>
            </a:custGeom>
            <a:solidFill>
              <a:srgbClr val="0C0A33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9973437" cy="1940306"/>
            </a:xfrm>
            <a:custGeom>
              <a:avLst/>
              <a:gdLst/>
              <a:ahLst/>
              <a:cxnLst/>
              <a:rect l="l" t="t" r="r" b="b"/>
              <a:pathLst>
                <a:path w="9973437" h="1940306">
                  <a:moveTo>
                    <a:pt x="0" y="201930"/>
                  </a:moveTo>
                  <a:cubicBezTo>
                    <a:pt x="0" y="90170"/>
                    <a:pt x="92075" y="0"/>
                    <a:pt x="204851" y="0"/>
                  </a:cubicBezTo>
                  <a:lnTo>
                    <a:pt x="9768586" y="0"/>
                  </a:lnTo>
                  <a:lnTo>
                    <a:pt x="9768586" y="19050"/>
                  </a:lnTo>
                  <a:lnTo>
                    <a:pt x="9768586" y="0"/>
                  </a:lnTo>
                  <a:cubicBezTo>
                    <a:pt x="9881489" y="0"/>
                    <a:pt x="9973437" y="90170"/>
                    <a:pt x="9973437" y="201930"/>
                  </a:cubicBezTo>
                  <a:lnTo>
                    <a:pt x="9954387" y="201930"/>
                  </a:lnTo>
                  <a:lnTo>
                    <a:pt x="9973437" y="201930"/>
                  </a:lnTo>
                  <a:lnTo>
                    <a:pt x="9973437" y="1738376"/>
                  </a:lnTo>
                  <a:lnTo>
                    <a:pt x="9954387" y="1738376"/>
                  </a:lnTo>
                  <a:lnTo>
                    <a:pt x="9973437" y="1738376"/>
                  </a:lnTo>
                  <a:cubicBezTo>
                    <a:pt x="9973437" y="1850136"/>
                    <a:pt x="9881362" y="1940306"/>
                    <a:pt x="9768586" y="1940306"/>
                  </a:cubicBezTo>
                  <a:lnTo>
                    <a:pt x="9768586" y="1921256"/>
                  </a:lnTo>
                  <a:lnTo>
                    <a:pt x="9768586" y="1940306"/>
                  </a:lnTo>
                  <a:lnTo>
                    <a:pt x="204851" y="1940306"/>
                  </a:lnTo>
                  <a:lnTo>
                    <a:pt x="204851" y="1921256"/>
                  </a:lnTo>
                  <a:lnTo>
                    <a:pt x="204851" y="1940306"/>
                  </a:lnTo>
                  <a:cubicBezTo>
                    <a:pt x="91948" y="1940306"/>
                    <a:pt x="0" y="1850136"/>
                    <a:pt x="0" y="173837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738376"/>
                  </a:lnTo>
                  <a:lnTo>
                    <a:pt x="19050" y="1738376"/>
                  </a:lnTo>
                  <a:lnTo>
                    <a:pt x="38100" y="1738376"/>
                  </a:lnTo>
                  <a:cubicBezTo>
                    <a:pt x="38100" y="1828546"/>
                    <a:pt x="112522" y="1902206"/>
                    <a:pt x="204851" y="1902206"/>
                  </a:cubicBezTo>
                  <a:lnTo>
                    <a:pt x="9768586" y="1902206"/>
                  </a:lnTo>
                  <a:cubicBezTo>
                    <a:pt x="9861042" y="1902206"/>
                    <a:pt x="9935337" y="1828546"/>
                    <a:pt x="9935337" y="1738376"/>
                  </a:cubicBezTo>
                  <a:lnTo>
                    <a:pt x="9935337" y="201930"/>
                  </a:lnTo>
                  <a:cubicBezTo>
                    <a:pt x="9935337" y="111760"/>
                    <a:pt x="9860915" y="38100"/>
                    <a:pt x="9768586" y="38100"/>
                  </a:cubicBezTo>
                  <a:lnTo>
                    <a:pt x="204851" y="38100"/>
                  </a:lnTo>
                  <a:lnTo>
                    <a:pt x="204851" y="19050"/>
                  </a:lnTo>
                  <a:lnTo>
                    <a:pt x="204851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44426B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372943" y="5188744"/>
            <a:ext cx="114300" cy="1426664"/>
            <a:chOff x="0" y="0"/>
            <a:chExt cx="152400" cy="19022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2400" cy="1902333"/>
            </a:xfrm>
            <a:custGeom>
              <a:avLst/>
              <a:gdLst/>
              <a:ahLst/>
              <a:cxnLst/>
              <a:rect l="l" t="t" r="r" b="b"/>
              <a:pathLst>
                <a:path w="152400" h="1902333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104648" y="0"/>
                  </a:lnTo>
                  <a:cubicBezTo>
                    <a:pt x="131064" y="0"/>
                    <a:pt x="152400" y="21336"/>
                    <a:pt x="152400" y="47752"/>
                  </a:cubicBezTo>
                  <a:lnTo>
                    <a:pt x="152400" y="1854581"/>
                  </a:lnTo>
                  <a:cubicBezTo>
                    <a:pt x="152400" y="1880870"/>
                    <a:pt x="131064" y="1902333"/>
                    <a:pt x="104648" y="1902333"/>
                  </a:cubicBezTo>
                  <a:lnTo>
                    <a:pt x="47752" y="1902333"/>
                  </a:lnTo>
                  <a:cubicBezTo>
                    <a:pt x="21463" y="1902333"/>
                    <a:pt x="0" y="1880997"/>
                    <a:pt x="0" y="1854581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754238" y="5446214"/>
            <a:ext cx="3719512" cy="36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Naive Bayes Training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54238" y="5939133"/>
            <a:ext cx="7746206" cy="40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trainnb — learns from labelled spam / ham data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87231" y="6791030"/>
            <a:ext cx="7480106" cy="1455239"/>
            <a:chOff x="0" y="0"/>
            <a:chExt cx="9973475" cy="1940319"/>
          </a:xfrm>
        </p:grpSpPr>
        <p:sp>
          <p:nvSpPr>
            <p:cNvPr id="23" name="Freeform 23"/>
            <p:cNvSpPr/>
            <p:nvPr/>
          </p:nvSpPr>
          <p:spPr>
            <a:xfrm>
              <a:off x="19050" y="19050"/>
              <a:ext cx="9935337" cy="1902206"/>
            </a:xfrm>
            <a:custGeom>
              <a:avLst/>
              <a:gdLst/>
              <a:ahLst/>
              <a:cxnLst/>
              <a:rect l="l" t="t" r="r" b="b"/>
              <a:pathLst>
                <a:path w="9935337" h="1902206">
                  <a:moveTo>
                    <a:pt x="0" y="182880"/>
                  </a:moveTo>
                  <a:cubicBezTo>
                    <a:pt x="0" y="81915"/>
                    <a:pt x="83185" y="0"/>
                    <a:pt x="185801" y="0"/>
                  </a:cubicBezTo>
                  <a:lnTo>
                    <a:pt x="9749536" y="0"/>
                  </a:lnTo>
                  <a:cubicBezTo>
                    <a:pt x="9852152" y="0"/>
                    <a:pt x="9935337" y="81915"/>
                    <a:pt x="9935337" y="182880"/>
                  </a:cubicBezTo>
                  <a:lnTo>
                    <a:pt x="9935337" y="1719326"/>
                  </a:lnTo>
                  <a:cubicBezTo>
                    <a:pt x="9935337" y="1820291"/>
                    <a:pt x="9852152" y="1902206"/>
                    <a:pt x="9749536" y="1902206"/>
                  </a:cubicBezTo>
                  <a:lnTo>
                    <a:pt x="185801" y="1902206"/>
                  </a:lnTo>
                  <a:cubicBezTo>
                    <a:pt x="83185" y="1902206"/>
                    <a:pt x="0" y="1820291"/>
                    <a:pt x="0" y="1719326"/>
                  </a:cubicBezTo>
                  <a:close/>
                </a:path>
              </a:pathLst>
            </a:custGeom>
            <a:solidFill>
              <a:srgbClr val="0C0A33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9973437" cy="1940306"/>
            </a:xfrm>
            <a:custGeom>
              <a:avLst/>
              <a:gdLst/>
              <a:ahLst/>
              <a:cxnLst/>
              <a:rect l="l" t="t" r="r" b="b"/>
              <a:pathLst>
                <a:path w="9973437" h="1940306">
                  <a:moveTo>
                    <a:pt x="0" y="201930"/>
                  </a:moveTo>
                  <a:cubicBezTo>
                    <a:pt x="0" y="90170"/>
                    <a:pt x="92075" y="0"/>
                    <a:pt x="204851" y="0"/>
                  </a:cubicBezTo>
                  <a:lnTo>
                    <a:pt x="9768586" y="0"/>
                  </a:lnTo>
                  <a:lnTo>
                    <a:pt x="9768586" y="19050"/>
                  </a:lnTo>
                  <a:lnTo>
                    <a:pt x="9768586" y="0"/>
                  </a:lnTo>
                  <a:cubicBezTo>
                    <a:pt x="9881489" y="0"/>
                    <a:pt x="9973437" y="90170"/>
                    <a:pt x="9973437" y="201930"/>
                  </a:cubicBezTo>
                  <a:lnTo>
                    <a:pt x="9954387" y="201930"/>
                  </a:lnTo>
                  <a:lnTo>
                    <a:pt x="9973437" y="201930"/>
                  </a:lnTo>
                  <a:lnTo>
                    <a:pt x="9973437" y="1738376"/>
                  </a:lnTo>
                  <a:lnTo>
                    <a:pt x="9954387" y="1738376"/>
                  </a:lnTo>
                  <a:lnTo>
                    <a:pt x="9973437" y="1738376"/>
                  </a:lnTo>
                  <a:cubicBezTo>
                    <a:pt x="9973437" y="1850136"/>
                    <a:pt x="9881362" y="1940306"/>
                    <a:pt x="9768586" y="1940306"/>
                  </a:cubicBezTo>
                  <a:lnTo>
                    <a:pt x="9768586" y="1921256"/>
                  </a:lnTo>
                  <a:lnTo>
                    <a:pt x="9768586" y="1940306"/>
                  </a:lnTo>
                  <a:lnTo>
                    <a:pt x="204851" y="1940306"/>
                  </a:lnTo>
                  <a:lnTo>
                    <a:pt x="204851" y="1921256"/>
                  </a:lnTo>
                  <a:lnTo>
                    <a:pt x="204851" y="1940306"/>
                  </a:lnTo>
                  <a:cubicBezTo>
                    <a:pt x="91948" y="1940306"/>
                    <a:pt x="0" y="1850136"/>
                    <a:pt x="0" y="173837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738376"/>
                  </a:lnTo>
                  <a:lnTo>
                    <a:pt x="19050" y="1738376"/>
                  </a:lnTo>
                  <a:lnTo>
                    <a:pt x="38100" y="1738376"/>
                  </a:lnTo>
                  <a:cubicBezTo>
                    <a:pt x="38100" y="1828546"/>
                    <a:pt x="112522" y="1902206"/>
                    <a:pt x="204851" y="1902206"/>
                  </a:cubicBezTo>
                  <a:lnTo>
                    <a:pt x="9768586" y="1902206"/>
                  </a:lnTo>
                  <a:cubicBezTo>
                    <a:pt x="9861042" y="1902206"/>
                    <a:pt x="9935337" y="1828546"/>
                    <a:pt x="9935337" y="1738376"/>
                  </a:cubicBezTo>
                  <a:lnTo>
                    <a:pt x="9935337" y="201930"/>
                  </a:lnTo>
                  <a:cubicBezTo>
                    <a:pt x="9935337" y="111760"/>
                    <a:pt x="9860915" y="38100"/>
                    <a:pt x="9768586" y="38100"/>
                  </a:cubicBezTo>
                  <a:lnTo>
                    <a:pt x="204851" y="38100"/>
                  </a:lnTo>
                  <a:lnTo>
                    <a:pt x="204851" y="19050"/>
                  </a:lnTo>
                  <a:lnTo>
                    <a:pt x="204851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44426B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372943" y="6805317"/>
            <a:ext cx="114300" cy="1426664"/>
            <a:chOff x="0" y="0"/>
            <a:chExt cx="152400" cy="19022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2400" cy="1902333"/>
            </a:xfrm>
            <a:custGeom>
              <a:avLst/>
              <a:gdLst/>
              <a:ahLst/>
              <a:cxnLst/>
              <a:rect l="l" t="t" r="r" b="b"/>
              <a:pathLst>
                <a:path w="152400" h="1902333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104648" y="0"/>
                  </a:lnTo>
                  <a:cubicBezTo>
                    <a:pt x="131064" y="0"/>
                    <a:pt x="152400" y="21336"/>
                    <a:pt x="152400" y="47752"/>
                  </a:cubicBezTo>
                  <a:lnTo>
                    <a:pt x="152400" y="1854581"/>
                  </a:lnTo>
                  <a:cubicBezTo>
                    <a:pt x="152400" y="1880870"/>
                    <a:pt x="131064" y="1902333"/>
                    <a:pt x="104648" y="1902333"/>
                  </a:cubicBezTo>
                  <a:lnTo>
                    <a:pt x="47752" y="1902333"/>
                  </a:lnTo>
                  <a:cubicBezTo>
                    <a:pt x="21463" y="1902333"/>
                    <a:pt x="0" y="1880997"/>
                    <a:pt x="0" y="1854581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754238" y="7062787"/>
            <a:ext cx="3719512" cy="36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Model Testing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54238" y="7555706"/>
            <a:ext cx="7746206" cy="40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testnb — generates confusion matrix and accuracy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444190" y="1910801"/>
            <a:ext cx="7451522" cy="7451522"/>
            <a:chOff x="0" y="0"/>
            <a:chExt cx="9935362" cy="9935362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9935337" cy="9935337"/>
            </a:xfrm>
            <a:custGeom>
              <a:avLst/>
              <a:gdLst/>
              <a:ahLst/>
              <a:cxnLst/>
              <a:rect l="l" t="t" r="r" b="b"/>
              <a:pathLst>
                <a:path w="9935337" h="9935337">
                  <a:moveTo>
                    <a:pt x="0" y="0"/>
                  </a:moveTo>
                  <a:lnTo>
                    <a:pt x="9935337" y="0"/>
                  </a:lnTo>
                  <a:lnTo>
                    <a:pt x="9935337" y="9935337"/>
                  </a:lnTo>
                  <a:lnTo>
                    <a:pt x="0" y="9935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9444190" y="1910801"/>
            <a:ext cx="7451522" cy="7451522"/>
            <a:chOff x="0" y="0"/>
            <a:chExt cx="9935362" cy="9935362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9935337" cy="9935337"/>
            </a:xfrm>
            <a:custGeom>
              <a:avLst/>
              <a:gdLst/>
              <a:ahLst/>
              <a:cxnLst/>
              <a:rect l="l" t="t" r="r" b="b"/>
              <a:pathLst>
                <a:path w="9935337" h="9935337">
                  <a:moveTo>
                    <a:pt x="0" y="0"/>
                  </a:moveTo>
                  <a:lnTo>
                    <a:pt x="9935337" y="0"/>
                  </a:lnTo>
                  <a:lnTo>
                    <a:pt x="9935337" y="9935337"/>
                  </a:lnTo>
                  <a:lnTo>
                    <a:pt x="0" y="9935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160537" y="610191"/>
            <a:ext cx="6406991" cy="86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1">
                <a:solidFill>
                  <a:srgbClr val="FFFFFF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Results &amp; Performance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60537" y="3055439"/>
            <a:ext cx="8894712" cy="5040211"/>
            <a:chOff x="0" y="0"/>
            <a:chExt cx="11859616" cy="6720281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1859641" cy="6720332"/>
            </a:xfrm>
            <a:custGeom>
              <a:avLst/>
              <a:gdLst/>
              <a:ahLst/>
              <a:cxnLst/>
              <a:rect l="l" t="t" r="r" b="b"/>
              <a:pathLst>
                <a:path w="11859641" h="6720332">
                  <a:moveTo>
                    <a:pt x="0" y="0"/>
                  </a:moveTo>
                  <a:lnTo>
                    <a:pt x="11859641" y="0"/>
                  </a:lnTo>
                  <a:lnTo>
                    <a:pt x="11859641" y="6720332"/>
                  </a:lnTo>
                  <a:lnTo>
                    <a:pt x="0" y="6720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" r="-23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1589248" y="1647977"/>
            <a:ext cx="3444478" cy="325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Key Outcomes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574961" y="2133305"/>
            <a:ext cx="4576020" cy="1291676"/>
            <a:chOff x="0" y="0"/>
            <a:chExt cx="6101359" cy="1722234"/>
          </a:xfrm>
        </p:grpSpPr>
        <p:sp>
          <p:nvSpPr>
            <p:cNvPr id="11" name="Freeform 11"/>
            <p:cNvSpPr/>
            <p:nvPr/>
          </p:nvSpPr>
          <p:spPr>
            <a:xfrm>
              <a:off x="19050" y="19050"/>
              <a:ext cx="6063234" cy="1684147"/>
            </a:xfrm>
            <a:custGeom>
              <a:avLst/>
              <a:gdLst/>
              <a:ahLst/>
              <a:cxnLst/>
              <a:rect l="l" t="t" r="r" b="b"/>
              <a:pathLst>
                <a:path w="6063234" h="1684147">
                  <a:moveTo>
                    <a:pt x="0" y="182880"/>
                  </a:moveTo>
                  <a:cubicBezTo>
                    <a:pt x="0" y="81915"/>
                    <a:pt x="83185" y="0"/>
                    <a:pt x="185801" y="0"/>
                  </a:cubicBezTo>
                  <a:lnTo>
                    <a:pt x="5877433" y="0"/>
                  </a:lnTo>
                  <a:cubicBezTo>
                    <a:pt x="5980049" y="0"/>
                    <a:pt x="6063234" y="81915"/>
                    <a:pt x="6063234" y="182880"/>
                  </a:cubicBezTo>
                  <a:lnTo>
                    <a:pt x="6063234" y="1501267"/>
                  </a:lnTo>
                  <a:cubicBezTo>
                    <a:pt x="6063234" y="1602232"/>
                    <a:pt x="5980049" y="1684147"/>
                    <a:pt x="5877433" y="1684147"/>
                  </a:cubicBezTo>
                  <a:lnTo>
                    <a:pt x="185801" y="1684147"/>
                  </a:lnTo>
                  <a:cubicBezTo>
                    <a:pt x="83185" y="1684147"/>
                    <a:pt x="0" y="1602232"/>
                    <a:pt x="0" y="1501267"/>
                  </a:cubicBezTo>
                  <a:close/>
                </a:path>
              </a:pathLst>
            </a:custGeom>
            <a:solidFill>
              <a:srgbClr val="0C0A33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6101334" cy="1722247"/>
            </a:xfrm>
            <a:custGeom>
              <a:avLst/>
              <a:gdLst/>
              <a:ahLst/>
              <a:cxnLst/>
              <a:rect l="l" t="t" r="r" b="b"/>
              <a:pathLst>
                <a:path w="6101334" h="1722247">
                  <a:moveTo>
                    <a:pt x="0" y="201930"/>
                  </a:moveTo>
                  <a:cubicBezTo>
                    <a:pt x="0" y="90170"/>
                    <a:pt x="92075" y="0"/>
                    <a:pt x="204851" y="0"/>
                  </a:cubicBezTo>
                  <a:lnTo>
                    <a:pt x="5896483" y="0"/>
                  </a:lnTo>
                  <a:lnTo>
                    <a:pt x="5896483" y="19050"/>
                  </a:lnTo>
                  <a:lnTo>
                    <a:pt x="5896483" y="0"/>
                  </a:lnTo>
                  <a:cubicBezTo>
                    <a:pt x="6009386" y="0"/>
                    <a:pt x="6101334" y="90170"/>
                    <a:pt x="6101334" y="201930"/>
                  </a:cubicBezTo>
                  <a:lnTo>
                    <a:pt x="6082284" y="201930"/>
                  </a:lnTo>
                  <a:lnTo>
                    <a:pt x="6101334" y="201930"/>
                  </a:lnTo>
                  <a:lnTo>
                    <a:pt x="6101334" y="1520317"/>
                  </a:lnTo>
                  <a:lnTo>
                    <a:pt x="6082284" y="1520317"/>
                  </a:lnTo>
                  <a:lnTo>
                    <a:pt x="6101334" y="1520317"/>
                  </a:lnTo>
                  <a:cubicBezTo>
                    <a:pt x="6101334" y="1632077"/>
                    <a:pt x="6009259" y="1722247"/>
                    <a:pt x="5896483" y="1722247"/>
                  </a:cubicBezTo>
                  <a:lnTo>
                    <a:pt x="5896483" y="1703197"/>
                  </a:lnTo>
                  <a:lnTo>
                    <a:pt x="5896483" y="1722247"/>
                  </a:lnTo>
                  <a:lnTo>
                    <a:pt x="204851" y="1722247"/>
                  </a:lnTo>
                  <a:lnTo>
                    <a:pt x="204851" y="1703197"/>
                  </a:lnTo>
                  <a:lnTo>
                    <a:pt x="204851" y="1722247"/>
                  </a:lnTo>
                  <a:cubicBezTo>
                    <a:pt x="91948" y="1722247"/>
                    <a:pt x="0" y="1632077"/>
                    <a:pt x="0" y="152031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520317"/>
                  </a:lnTo>
                  <a:lnTo>
                    <a:pt x="19050" y="1520317"/>
                  </a:lnTo>
                  <a:lnTo>
                    <a:pt x="38100" y="1520317"/>
                  </a:lnTo>
                  <a:cubicBezTo>
                    <a:pt x="38100" y="1610487"/>
                    <a:pt x="112522" y="1684147"/>
                    <a:pt x="204851" y="1684147"/>
                  </a:cubicBezTo>
                  <a:lnTo>
                    <a:pt x="5896483" y="1684147"/>
                  </a:lnTo>
                  <a:cubicBezTo>
                    <a:pt x="5988939" y="1684147"/>
                    <a:pt x="6063234" y="1610487"/>
                    <a:pt x="6063234" y="1520317"/>
                  </a:cubicBezTo>
                  <a:lnTo>
                    <a:pt x="6063234" y="201930"/>
                  </a:lnTo>
                  <a:cubicBezTo>
                    <a:pt x="6063234" y="111760"/>
                    <a:pt x="5988812" y="38100"/>
                    <a:pt x="5896483" y="38100"/>
                  </a:cubicBezTo>
                  <a:lnTo>
                    <a:pt x="204851" y="38100"/>
                  </a:lnTo>
                  <a:lnTo>
                    <a:pt x="204851" y="19050"/>
                  </a:lnTo>
                  <a:lnTo>
                    <a:pt x="204851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44426B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1560673" y="2147592"/>
            <a:ext cx="114300" cy="1263101"/>
            <a:chOff x="0" y="0"/>
            <a:chExt cx="152400" cy="168413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2400" cy="1684147"/>
            </a:xfrm>
            <a:custGeom>
              <a:avLst/>
              <a:gdLst/>
              <a:ahLst/>
              <a:cxnLst/>
              <a:rect l="l" t="t" r="r" b="b"/>
              <a:pathLst>
                <a:path w="152400" h="1684147">
                  <a:moveTo>
                    <a:pt x="0" y="43053"/>
                  </a:moveTo>
                  <a:cubicBezTo>
                    <a:pt x="0" y="19304"/>
                    <a:pt x="19304" y="0"/>
                    <a:pt x="43053" y="0"/>
                  </a:cubicBezTo>
                  <a:lnTo>
                    <a:pt x="109347" y="0"/>
                  </a:lnTo>
                  <a:cubicBezTo>
                    <a:pt x="133096" y="0"/>
                    <a:pt x="152400" y="19304"/>
                    <a:pt x="152400" y="43053"/>
                  </a:cubicBezTo>
                  <a:lnTo>
                    <a:pt x="152400" y="1641094"/>
                  </a:lnTo>
                  <a:cubicBezTo>
                    <a:pt x="152400" y="1664843"/>
                    <a:pt x="133096" y="1684147"/>
                    <a:pt x="109347" y="1684147"/>
                  </a:cubicBezTo>
                  <a:lnTo>
                    <a:pt x="43053" y="1684147"/>
                  </a:lnTo>
                  <a:cubicBezTo>
                    <a:pt x="19304" y="1684147"/>
                    <a:pt x="0" y="1664843"/>
                    <a:pt x="0" y="1641094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1918604" y="2381698"/>
            <a:ext cx="3444478" cy="33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✅</a:t>
            </a:r>
            <a:r>
              <a:rPr lang="en-US" sz="19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HDFS Integration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18604" y="2823867"/>
            <a:ext cx="4888859" cy="343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End-to-end distributed storage working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574961" y="3550891"/>
            <a:ext cx="4576020" cy="1291676"/>
            <a:chOff x="0" y="0"/>
            <a:chExt cx="6101359" cy="1722234"/>
          </a:xfrm>
        </p:grpSpPr>
        <p:sp>
          <p:nvSpPr>
            <p:cNvPr id="18" name="Freeform 18"/>
            <p:cNvSpPr/>
            <p:nvPr/>
          </p:nvSpPr>
          <p:spPr>
            <a:xfrm>
              <a:off x="19050" y="19050"/>
              <a:ext cx="6063234" cy="1684147"/>
            </a:xfrm>
            <a:custGeom>
              <a:avLst/>
              <a:gdLst/>
              <a:ahLst/>
              <a:cxnLst/>
              <a:rect l="l" t="t" r="r" b="b"/>
              <a:pathLst>
                <a:path w="6063234" h="1684147">
                  <a:moveTo>
                    <a:pt x="0" y="182880"/>
                  </a:moveTo>
                  <a:cubicBezTo>
                    <a:pt x="0" y="81915"/>
                    <a:pt x="83185" y="0"/>
                    <a:pt x="185801" y="0"/>
                  </a:cubicBezTo>
                  <a:lnTo>
                    <a:pt x="5877433" y="0"/>
                  </a:lnTo>
                  <a:cubicBezTo>
                    <a:pt x="5980049" y="0"/>
                    <a:pt x="6063234" y="81915"/>
                    <a:pt x="6063234" y="182880"/>
                  </a:cubicBezTo>
                  <a:lnTo>
                    <a:pt x="6063234" y="1501267"/>
                  </a:lnTo>
                  <a:cubicBezTo>
                    <a:pt x="6063234" y="1602232"/>
                    <a:pt x="5980049" y="1684147"/>
                    <a:pt x="5877433" y="1684147"/>
                  </a:cubicBezTo>
                  <a:lnTo>
                    <a:pt x="185801" y="1684147"/>
                  </a:lnTo>
                  <a:cubicBezTo>
                    <a:pt x="83185" y="1684147"/>
                    <a:pt x="0" y="1602232"/>
                    <a:pt x="0" y="1501267"/>
                  </a:cubicBezTo>
                  <a:close/>
                </a:path>
              </a:pathLst>
            </a:custGeom>
            <a:solidFill>
              <a:srgbClr val="0C0A33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6101334" cy="1722247"/>
            </a:xfrm>
            <a:custGeom>
              <a:avLst/>
              <a:gdLst/>
              <a:ahLst/>
              <a:cxnLst/>
              <a:rect l="l" t="t" r="r" b="b"/>
              <a:pathLst>
                <a:path w="6101334" h="1722247">
                  <a:moveTo>
                    <a:pt x="0" y="201930"/>
                  </a:moveTo>
                  <a:cubicBezTo>
                    <a:pt x="0" y="90170"/>
                    <a:pt x="92075" y="0"/>
                    <a:pt x="204851" y="0"/>
                  </a:cubicBezTo>
                  <a:lnTo>
                    <a:pt x="5896483" y="0"/>
                  </a:lnTo>
                  <a:lnTo>
                    <a:pt x="5896483" y="19050"/>
                  </a:lnTo>
                  <a:lnTo>
                    <a:pt x="5896483" y="0"/>
                  </a:lnTo>
                  <a:cubicBezTo>
                    <a:pt x="6009386" y="0"/>
                    <a:pt x="6101334" y="90170"/>
                    <a:pt x="6101334" y="201930"/>
                  </a:cubicBezTo>
                  <a:lnTo>
                    <a:pt x="6082284" y="201930"/>
                  </a:lnTo>
                  <a:lnTo>
                    <a:pt x="6101334" y="201930"/>
                  </a:lnTo>
                  <a:lnTo>
                    <a:pt x="6101334" y="1520317"/>
                  </a:lnTo>
                  <a:lnTo>
                    <a:pt x="6082284" y="1520317"/>
                  </a:lnTo>
                  <a:lnTo>
                    <a:pt x="6101334" y="1520317"/>
                  </a:lnTo>
                  <a:cubicBezTo>
                    <a:pt x="6101334" y="1632077"/>
                    <a:pt x="6009259" y="1722247"/>
                    <a:pt x="5896483" y="1722247"/>
                  </a:cubicBezTo>
                  <a:lnTo>
                    <a:pt x="5896483" y="1703197"/>
                  </a:lnTo>
                  <a:lnTo>
                    <a:pt x="5896483" y="1722247"/>
                  </a:lnTo>
                  <a:lnTo>
                    <a:pt x="204851" y="1722247"/>
                  </a:lnTo>
                  <a:lnTo>
                    <a:pt x="204851" y="1703197"/>
                  </a:lnTo>
                  <a:lnTo>
                    <a:pt x="204851" y="1722247"/>
                  </a:lnTo>
                  <a:cubicBezTo>
                    <a:pt x="91948" y="1722247"/>
                    <a:pt x="0" y="1632077"/>
                    <a:pt x="0" y="152031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520317"/>
                  </a:lnTo>
                  <a:lnTo>
                    <a:pt x="19050" y="1520317"/>
                  </a:lnTo>
                  <a:lnTo>
                    <a:pt x="38100" y="1520317"/>
                  </a:lnTo>
                  <a:cubicBezTo>
                    <a:pt x="38100" y="1610487"/>
                    <a:pt x="112522" y="1684147"/>
                    <a:pt x="204851" y="1684147"/>
                  </a:cubicBezTo>
                  <a:lnTo>
                    <a:pt x="5896483" y="1684147"/>
                  </a:lnTo>
                  <a:cubicBezTo>
                    <a:pt x="5988939" y="1684147"/>
                    <a:pt x="6063234" y="1610487"/>
                    <a:pt x="6063234" y="1520317"/>
                  </a:cubicBezTo>
                  <a:lnTo>
                    <a:pt x="6063234" y="201930"/>
                  </a:lnTo>
                  <a:cubicBezTo>
                    <a:pt x="6063234" y="111760"/>
                    <a:pt x="5988812" y="38100"/>
                    <a:pt x="5896483" y="38100"/>
                  </a:cubicBezTo>
                  <a:lnTo>
                    <a:pt x="204851" y="38100"/>
                  </a:lnTo>
                  <a:lnTo>
                    <a:pt x="204851" y="19050"/>
                  </a:lnTo>
                  <a:lnTo>
                    <a:pt x="204851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44426B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1560673" y="3565179"/>
            <a:ext cx="114300" cy="1263101"/>
            <a:chOff x="0" y="0"/>
            <a:chExt cx="152400" cy="168413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2400" cy="1684147"/>
            </a:xfrm>
            <a:custGeom>
              <a:avLst/>
              <a:gdLst/>
              <a:ahLst/>
              <a:cxnLst/>
              <a:rect l="l" t="t" r="r" b="b"/>
              <a:pathLst>
                <a:path w="152400" h="1684147">
                  <a:moveTo>
                    <a:pt x="0" y="43053"/>
                  </a:moveTo>
                  <a:cubicBezTo>
                    <a:pt x="0" y="19304"/>
                    <a:pt x="19304" y="0"/>
                    <a:pt x="43053" y="0"/>
                  </a:cubicBezTo>
                  <a:lnTo>
                    <a:pt x="109347" y="0"/>
                  </a:lnTo>
                  <a:cubicBezTo>
                    <a:pt x="133096" y="0"/>
                    <a:pt x="152400" y="19304"/>
                    <a:pt x="152400" y="43053"/>
                  </a:cubicBezTo>
                  <a:lnTo>
                    <a:pt x="152400" y="1641094"/>
                  </a:lnTo>
                  <a:cubicBezTo>
                    <a:pt x="152400" y="1664843"/>
                    <a:pt x="133096" y="1684147"/>
                    <a:pt x="109347" y="1684147"/>
                  </a:cubicBezTo>
                  <a:lnTo>
                    <a:pt x="43053" y="1684147"/>
                  </a:lnTo>
                  <a:cubicBezTo>
                    <a:pt x="19304" y="1684147"/>
                    <a:pt x="0" y="1664843"/>
                    <a:pt x="0" y="1641094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1918604" y="3799284"/>
            <a:ext cx="3444478" cy="33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✅</a:t>
            </a:r>
            <a:r>
              <a:rPr lang="en-US" sz="19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Batch Predictions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918604" y="4241454"/>
            <a:ext cx="4888859" cy="343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CSV upload and download successful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574961" y="4968478"/>
            <a:ext cx="4576020" cy="1291676"/>
            <a:chOff x="0" y="0"/>
            <a:chExt cx="6101359" cy="1722234"/>
          </a:xfrm>
        </p:grpSpPr>
        <p:sp>
          <p:nvSpPr>
            <p:cNvPr id="25" name="Freeform 25"/>
            <p:cNvSpPr/>
            <p:nvPr/>
          </p:nvSpPr>
          <p:spPr>
            <a:xfrm>
              <a:off x="19050" y="19050"/>
              <a:ext cx="6063234" cy="1684147"/>
            </a:xfrm>
            <a:custGeom>
              <a:avLst/>
              <a:gdLst/>
              <a:ahLst/>
              <a:cxnLst/>
              <a:rect l="l" t="t" r="r" b="b"/>
              <a:pathLst>
                <a:path w="6063234" h="1684147">
                  <a:moveTo>
                    <a:pt x="0" y="182880"/>
                  </a:moveTo>
                  <a:cubicBezTo>
                    <a:pt x="0" y="81915"/>
                    <a:pt x="83185" y="0"/>
                    <a:pt x="185801" y="0"/>
                  </a:cubicBezTo>
                  <a:lnTo>
                    <a:pt x="5877433" y="0"/>
                  </a:lnTo>
                  <a:cubicBezTo>
                    <a:pt x="5980049" y="0"/>
                    <a:pt x="6063234" y="81915"/>
                    <a:pt x="6063234" y="182880"/>
                  </a:cubicBezTo>
                  <a:lnTo>
                    <a:pt x="6063234" y="1501267"/>
                  </a:lnTo>
                  <a:cubicBezTo>
                    <a:pt x="6063234" y="1602232"/>
                    <a:pt x="5980049" y="1684147"/>
                    <a:pt x="5877433" y="1684147"/>
                  </a:cubicBezTo>
                  <a:lnTo>
                    <a:pt x="185801" y="1684147"/>
                  </a:lnTo>
                  <a:cubicBezTo>
                    <a:pt x="83185" y="1684147"/>
                    <a:pt x="0" y="1602232"/>
                    <a:pt x="0" y="1501267"/>
                  </a:cubicBezTo>
                  <a:close/>
                </a:path>
              </a:pathLst>
            </a:custGeom>
            <a:solidFill>
              <a:srgbClr val="0C0A33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6101334" cy="1722247"/>
            </a:xfrm>
            <a:custGeom>
              <a:avLst/>
              <a:gdLst/>
              <a:ahLst/>
              <a:cxnLst/>
              <a:rect l="l" t="t" r="r" b="b"/>
              <a:pathLst>
                <a:path w="6101334" h="1722247">
                  <a:moveTo>
                    <a:pt x="0" y="201930"/>
                  </a:moveTo>
                  <a:cubicBezTo>
                    <a:pt x="0" y="90170"/>
                    <a:pt x="92075" y="0"/>
                    <a:pt x="204851" y="0"/>
                  </a:cubicBezTo>
                  <a:lnTo>
                    <a:pt x="5896483" y="0"/>
                  </a:lnTo>
                  <a:lnTo>
                    <a:pt x="5896483" y="19050"/>
                  </a:lnTo>
                  <a:lnTo>
                    <a:pt x="5896483" y="0"/>
                  </a:lnTo>
                  <a:cubicBezTo>
                    <a:pt x="6009386" y="0"/>
                    <a:pt x="6101334" y="90170"/>
                    <a:pt x="6101334" y="201930"/>
                  </a:cubicBezTo>
                  <a:lnTo>
                    <a:pt x="6082284" y="201930"/>
                  </a:lnTo>
                  <a:lnTo>
                    <a:pt x="6101334" y="201930"/>
                  </a:lnTo>
                  <a:lnTo>
                    <a:pt x="6101334" y="1520317"/>
                  </a:lnTo>
                  <a:lnTo>
                    <a:pt x="6082284" y="1520317"/>
                  </a:lnTo>
                  <a:lnTo>
                    <a:pt x="6101334" y="1520317"/>
                  </a:lnTo>
                  <a:cubicBezTo>
                    <a:pt x="6101334" y="1632077"/>
                    <a:pt x="6009259" y="1722247"/>
                    <a:pt x="5896483" y="1722247"/>
                  </a:cubicBezTo>
                  <a:lnTo>
                    <a:pt x="5896483" y="1703197"/>
                  </a:lnTo>
                  <a:lnTo>
                    <a:pt x="5896483" y="1722247"/>
                  </a:lnTo>
                  <a:lnTo>
                    <a:pt x="204851" y="1722247"/>
                  </a:lnTo>
                  <a:lnTo>
                    <a:pt x="204851" y="1703197"/>
                  </a:lnTo>
                  <a:lnTo>
                    <a:pt x="204851" y="1722247"/>
                  </a:lnTo>
                  <a:cubicBezTo>
                    <a:pt x="91948" y="1722247"/>
                    <a:pt x="0" y="1632077"/>
                    <a:pt x="0" y="152031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520317"/>
                  </a:lnTo>
                  <a:lnTo>
                    <a:pt x="19050" y="1520317"/>
                  </a:lnTo>
                  <a:lnTo>
                    <a:pt x="38100" y="1520317"/>
                  </a:lnTo>
                  <a:cubicBezTo>
                    <a:pt x="38100" y="1610487"/>
                    <a:pt x="112522" y="1684147"/>
                    <a:pt x="204851" y="1684147"/>
                  </a:cubicBezTo>
                  <a:lnTo>
                    <a:pt x="5896483" y="1684147"/>
                  </a:lnTo>
                  <a:cubicBezTo>
                    <a:pt x="5988939" y="1684147"/>
                    <a:pt x="6063234" y="1610487"/>
                    <a:pt x="6063234" y="1520317"/>
                  </a:cubicBezTo>
                  <a:lnTo>
                    <a:pt x="6063234" y="201930"/>
                  </a:lnTo>
                  <a:cubicBezTo>
                    <a:pt x="6063234" y="111760"/>
                    <a:pt x="5988812" y="38100"/>
                    <a:pt x="5896483" y="38100"/>
                  </a:cubicBezTo>
                  <a:lnTo>
                    <a:pt x="204851" y="38100"/>
                  </a:lnTo>
                  <a:lnTo>
                    <a:pt x="204851" y="19050"/>
                  </a:lnTo>
                  <a:lnTo>
                    <a:pt x="204851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44426B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1560673" y="4982766"/>
            <a:ext cx="114300" cy="1263101"/>
            <a:chOff x="0" y="0"/>
            <a:chExt cx="152400" cy="168413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2400" cy="1684147"/>
            </a:xfrm>
            <a:custGeom>
              <a:avLst/>
              <a:gdLst/>
              <a:ahLst/>
              <a:cxnLst/>
              <a:rect l="l" t="t" r="r" b="b"/>
              <a:pathLst>
                <a:path w="152400" h="1684147">
                  <a:moveTo>
                    <a:pt x="0" y="43053"/>
                  </a:moveTo>
                  <a:cubicBezTo>
                    <a:pt x="0" y="19304"/>
                    <a:pt x="19304" y="0"/>
                    <a:pt x="43053" y="0"/>
                  </a:cubicBezTo>
                  <a:lnTo>
                    <a:pt x="109347" y="0"/>
                  </a:lnTo>
                  <a:cubicBezTo>
                    <a:pt x="133096" y="0"/>
                    <a:pt x="152400" y="19304"/>
                    <a:pt x="152400" y="43053"/>
                  </a:cubicBezTo>
                  <a:lnTo>
                    <a:pt x="152400" y="1641094"/>
                  </a:lnTo>
                  <a:cubicBezTo>
                    <a:pt x="152400" y="1664843"/>
                    <a:pt x="133096" y="1684147"/>
                    <a:pt x="109347" y="1684147"/>
                  </a:cubicBezTo>
                  <a:lnTo>
                    <a:pt x="43053" y="1684147"/>
                  </a:lnTo>
                  <a:cubicBezTo>
                    <a:pt x="19304" y="1684147"/>
                    <a:pt x="0" y="1664843"/>
                    <a:pt x="0" y="1641094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1918604" y="5216871"/>
            <a:ext cx="3444478" cy="33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✅</a:t>
            </a:r>
            <a:r>
              <a:rPr lang="en-US" sz="19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Live Feedback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918604" y="5659041"/>
            <a:ext cx="4888859" cy="343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Corrections persisted to HDFS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1574961" y="6386065"/>
            <a:ext cx="4576020" cy="1587256"/>
            <a:chOff x="0" y="0"/>
            <a:chExt cx="6101359" cy="2116341"/>
          </a:xfrm>
        </p:grpSpPr>
        <p:sp>
          <p:nvSpPr>
            <p:cNvPr id="32" name="Freeform 32"/>
            <p:cNvSpPr/>
            <p:nvPr/>
          </p:nvSpPr>
          <p:spPr>
            <a:xfrm>
              <a:off x="19050" y="19050"/>
              <a:ext cx="6063234" cy="2078228"/>
            </a:xfrm>
            <a:custGeom>
              <a:avLst/>
              <a:gdLst/>
              <a:ahLst/>
              <a:cxnLst/>
              <a:rect l="l" t="t" r="r" b="b"/>
              <a:pathLst>
                <a:path w="6063234" h="2078228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5878195" y="0"/>
                  </a:lnTo>
                  <a:cubicBezTo>
                    <a:pt x="5980430" y="0"/>
                    <a:pt x="6063234" y="81915"/>
                    <a:pt x="6063234" y="182880"/>
                  </a:cubicBezTo>
                  <a:lnTo>
                    <a:pt x="6063234" y="1895348"/>
                  </a:lnTo>
                  <a:cubicBezTo>
                    <a:pt x="6063234" y="1996313"/>
                    <a:pt x="5980430" y="2078228"/>
                    <a:pt x="5878195" y="2078228"/>
                  </a:cubicBezTo>
                  <a:lnTo>
                    <a:pt x="185039" y="2078228"/>
                  </a:lnTo>
                  <a:cubicBezTo>
                    <a:pt x="82804" y="2078228"/>
                    <a:pt x="0" y="1996313"/>
                    <a:pt x="0" y="1895348"/>
                  </a:cubicBezTo>
                  <a:close/>
                </a:path>
              </a:pathLst>
            </a:custGeom>
            <a:solidFill>
              <a:srgbClr val="0C0A33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6101334" cy="2116328"/>
            </a:xfrm>
            <a:custGeom>
              <a:avLst/>
              <a:gdLst/>
              <a:ahLst/>
              <a:cxnLst/>
              <a:rect l="l" t="t" r="r" b="b"/>
              <a:pathLst>
                <a:path w="6101334" h="2116328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5897245" y="0"/>
                  </a:lnTo>
                  <a:lnTo>
                    <a:pt x="5897245" y="19050"/>
                  </a:lnTo>
                  <a:lnTo>
                    <a:pt x="5897245" y="0"/>
                  </a:lnTo>
                  <a:cubicBezTo>
                    <a:pt x="6009767" y="0"/>
                    <a:pt x="6101334" y="90170"/>
                    <a:pt x="6101334" y="201930"/>
                  </a:cubicBezTo>
                  <a:lnTo>
                    <a:pt x="6082284" y="201930"/>
                  </a:lnTo>
                  <a:lnTo>
                    <a:pt x="6101334" y="201930"/>
                  </a:lnTo>
                  <a:lnTo>
                    <a:pt x="6101334" y="1914398"/>
                  </a:lnTo>
                  <a:lnTo>
                    <a:pt x="6082284" y="1914398"/>
                  </a:lnTo>
                  <a:lnTo>
                    <a:pt x="6101334" y="1914398"/>
                  </a:lnTo>
                  <a:cubicBezTo>
                    <a:pt x="6101334" y="2026158"/>
                    <a:pt x="6009767" y="2116328"/>
                    <a:pt x="5897245" y="2116328"/>
                  </a:cubicBezTo>
                  <a:lnTo>
                    <a:pt x="5897245" y="2097278"/>
                  </a:lnTo>
                  <a:lnTo>
                    <a:pt x="5897245" y="2116328"/>
                  </a:lnTo>
                  <a:lnTo>
                    <a:pt x="204089" y="2116328"/>
                  </a:lnTo>
                  <a:lnTo>
                    <a:pt x="204089" y="2097278"/>
                  </a:lnTo>
                  <a:lnTo>
                    <a:pt x="204089" y="2116328"/>
                  </a:lnTo>
                  <a:cubicBezTo>
                    <a:pt x="91567" y="2116328"/>
                    <a:pt x="0" y="2026158"/>
                    <a:pt x="0" y="1914398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14398"/>
                  </a:lnTo>
                  <a:lnTo>
                    <a:pt x="19050" y="1914398"/>
                  </a:lnTo>
                  <a:lnTo>
                    <a:pt x="38100" y="1914398"/>
                  </a:lnTo>
                  <a:cubicBezTo>
                    <a:pt x="38100" y="2004695"/>
                    <a:pt x="112268" y="2078228"/>
                    <a:pt x="204089" y="2078228"/>
                  </a:cubicBezTo>
                  <a:lnTo>
                    <a:pt x="5897245" y="2078228"/>
                  </a:lnTo>
                  <a:cubicBezTo>
                    <a:pt x="5989193" y="2078228"/>
                    <a:pt x="6063234" y="2004695"/>
                    <a:pt x="6063234" y="1914398"/>
                  </a:cubicBezTo>
                  <a:lnTo>
                    <a:pt x="6063234" y="201930"/>
                  </a:lnTo>
                  <a:cubicBezTo>
                    <a:pt x="6063234" y="111633"/>
                    <a:pt x="5989066" y="38100"/>
                    <a:pt x="5897245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268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44426B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1560673" y="6400352"/>
            <a:ext cx="114300" cy="1558681"/>
            <a:chOff x="0" y="0"/>
            <a:chExt cx="152400" cy="207824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52400" cy="2078228"/>
            </a:xfrm>
            <a:custGeom>
              <a:avLst/>
              <a:gdLst/>
              <a:ahLst/>
              <a:cxnLst/>
              <a:rect l="l" t="t" r="r" b="b"/>
              <a:pathLst>
                <a:path w="152400" h="2078228">
                  <a:moveTo>
                    <a:pt x="0" y="43053"/>
                  </a:moveTo>
                  <a:cubicBezTo>
                    <a:pt x="0" y="19304"/>
                    <a:pt x="19304" y="0"/>
                    <a:pt x="43053" y="0"/>
                  </a:cubicBezTo>
                  <a:lnTo>
                    <a:pt x="109347" y="0"/>
                  </a:lnTo>
                  <a:cubicBezTo>
                    <a:pt x="133096" y="0"/>
                    <a:pt x="152400" y="19304"/>
                    <a:pt x="152400" y="43053"/>
                  </a:cubicBezTo>
                  <a:lnTo>
                    <a:pt x="152400" y="2035175"/>
                  </a:lnTo>
                  <a:cubicBezTo>
                    <a:pt x="152400" y="2058924"/>
                    <a:pt x="133096" y="2078228"/>
                    <a:pt x="109347" y="2078228"/>
                  </a:cubicBezTo>
                  <a:lnTo>
                    <a:pt x="43053" y="2078228"/>
                  </a:lnTo>
                  <a:cubicBezTo>
                    <a:pt x="19304" y="2078228"/>
                    <a:pt x="0" y="2058924"/>
                    <a:pt x="0" y="2035175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11918604" y="6634458"/>
            <a:ext cx="3444478" cy="33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✅</a:t>
            </a:r>
            <a:r>
              <a:rPr lang="en-US" sz="19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Metrics Reports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918604" y="7076627"/>
            <a:ext cx="3974459" cy="63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Confusion matrix and accuracy generated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1589248" y="8132864"/>
            <a:ext cx="4547445" cy="1341387"/>
            <a:chOff x="0" y="0"/>
            <a:chExt cx="6063259" cy="178851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063361" cy="1788541"/>
            </a:xfrm>
            <a:custGeom>
              <a:avLst/>
              <a:gdLst/>
              <a:ahLst/>
              <a:cxnLst/>
              <a:rect l="l" t="t" r="r" b="b"/>
              <a:pathLst>
                <a:path w="6063361" h="1788541">
                  <a:moveTo>
                    <a:pt x="0" y="43053"/>
                  </a:moveTo>
                  <a:cubicBezTo>
                    <a:pt x="0" y="19304"/>
                    <a:pt x="19304" y="0"/>
                    <a:pt x="43053" y="0"/>
                  </a:cubicBezTo>
                  <a:lnTo>
                    <a:pt x="6020308" y="0"/>
                  </a:lnTo>
                  <a:cubicBezTo>
                    <a:pt x="6044057" y="0"/>
                    <a:pt x="6063361" y="19304"/>
                    <a:pt x="6063361" y="43053"/>
                  </a:cubicBezTo>
                  <a:lnTo>
                    <a:pt x="6063361" y="1745488"/>
                  </a:lnTo>
                  <a:cubicBezTo>
                    <a:pt x="6063361" y="1769237"/>
                    <a:pt x="6044057" y="1788541"/>
                    <a:pt x="6020308" y="1788541"/>
                  </a:cubicBezTo>
                  <a:lnTo>
                    <a:pt x="43053" y="1788541"/>
                  </a:lnTo>
                  <a:cubicBezTo>
                    <a:pt x="19304" y="1788541"/>
                    <a:pt x="0" y="1769237"/>
                    <a:pt x="0" y="1745488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1804304" y="8432454"/>
            <a:ext cx="268786" cy="215055"/>
            <a:chOff x="0" y="0"/>
            <a:chExt cx="358381" cy="286741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358394" cy="286766"/>
            </a:xfrm>
            <a:custGeom>
              <a:avLst/>
              <a:gdLst/>
              <a:ahLst/>
              <a:cxnLst/>
              <a:rect l="l" t="t" r="r" b="b"/>
              <a:pathLst>
                <a:path w="358394" h="286766">
                  <a:moveTo>
                    <a:pt x="0" y="0"/>
                  </a:moveTo>
                  <a:lnTo>
                    <a:pt x="358394" y="0"/>
                  </a:lnTo>
                  <a:lnTo>
                    <a:pt x="358394" y="286766"/>
                  </a:lnTo>
                  <a:lnTo>
                    <a:pt x="0" y="286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33" r="3" b="-1324"/>
              </a:stretch>
            </a:blipFill>
          </p:spPr>
        </p:sp>
      </p:grpSp>
      <p:sp>
        <p:nvSpPr>
          <p:cNvPr id="42" name="TextBox 42"/>
          <p:cNvSpPr txBox="1"/>
          <p:nvPr/>
        </p:nvSpPr>
        <p:spPr>
          <a:xfrm>
            <a:off x="12288145" y="8293446"/>
            <a:ext cx="3633492" cy="93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6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Note:</a:t>
            </a:r>
            <a:r>
              <a:rPr lang="en-US" sz="1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Binary classification (Spam / Ham) validated on labelled folder dataset.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9525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47150" y="1295552"/>
            <a:ext cx="8708350" cy="86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FFFFFF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Limitations &amp; Future Roadmap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47150" y="2652865"/>
            <a:ext cx="9335691" cy="6310017"/>
            <a:chOff x="0" y="0"/>
            <a:chExt cx="12447588" cy="84133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447524" cy="8413369"/>
            </a:xfrm>
            <a:custGeom>
              <a:avLst/>
              <a:gdLst/>
              <a:ahLst/>
              <a:cxnLst/>
              <a:rect l="l" t="t" r="r" b="b"/>
              <a:pathLst>
                <a:path w="12447524" h="8413369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2387707" y="0"/>
                  </a:lnTo>
                  <a:cubicBezTo>
                    <a:pt x="12420727" y="0"/>
                    <a:pt x="12447524" y="26797"/>
                    <a:pt x="12447524" y="59817"/>
                  </a:cubicBezTo>
                  <a:lnTo>
                    <a:pt x="12447524" y="8353552"/>
                  </a:lnTo>
                  <a:cubicBezTo>
                    <a:pt x="12447524" y="8386572"/>
                    <a:pt x="12420727" y="8413369"/>
                    <a:pt x="12387707" y="8413369"/>
                  </a:cubicBezTo>
                  <a:lnTo>
                    <a:pt x="59817" y="8413369"/>
                  </a:lnTo>
                  <a:cubicBezTo>
                    <a:pt x="26797" y="8413369"/>
                    <a:pt x="0" y="8386572"/>
                    <a:pt x="0" y="8353552"/>
                  </a:cubicBezTo>
                  <a:close/>
                </a:path>
              </a:pathLst>
            </a:custGeom>
            <a:solidFill>
              <a:srgbClr val="2B2952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47150" y="2652865"/>
            <a:ext cx="9335691" cy="2863301"/>
            <a:chOff x="0" y="0"/>
            <a:chExt cx="12447588" cy="381773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447524" cy="3817747"/>
            </a:xfrm>
            <a:custGeom>
              <a:avLst/>
              <a:gdLst/>
              <a:ahLst/>
              <a:cxnLst/>
              <a:rect l="l" t="t" r="r" b="b"/>
              <a:pathLst>
                <a:path w="12447524" h="3817747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2387707" y="0"/>
                  </a:lnTo>
                  <a:cubicBezTo>
                    <a:pt x="12420727" y="0"/>
                    <a:pt x="12447524" y="26797"/>
                    <a:pt x="12447524" y="59817"/>
                  </a:cubicBezTo>
                  <a:lnTo>
                    <a:pt x="12447524" y="3757930"/>
                  </a:lnTo>
                  <a:cubicBezTo>
                    <a:pt x="12447524" y="3790950"/>
                    <a:pt x="12420727" y="3817747"/>
                    <a:pt x="12387707" y="3817747"/>
                  </a:cubicBezTo>
                  <a:lnTo>
                    <a:pt x="59817" y="3817747"/>
                  </a:lnTo>
                  <a:cubicBezTo>
                    <a:pt x="26797" y="3817747"/>
                    <a:pt x="0" y="3790950"/>
                    <a:pt x="0" y="3757930"/>
                  </a:cubicBezTo>
                  <a:close/>
                </a:path>
              </a:pathLst>
            </a:custGeom>
            <a:solidFill>
              <a:srgbClr val="2B2952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346302" y="2932957"/>
            <a:ext cx="44346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Current Limitations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6302" y="3466652"/>
            <a:ext cx="8737406" cy="1750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Binary classification only</a:t>
            </a:r>
          </a:p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Traditional ML — no deep learning</a:t>
            </a:r>
          </a:p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Limited dataset scale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47150" y="5516166"/>
            <a:ext cx="9335691" cy="3446707"/>
            <a:chOff x="0" y="0"/>
            <a:chExt cx="12447588" cy="459560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447524" cy="4595622"/>
            </a:xfrm>
            <a:custGeom>
              <a:avLst/>
              <a:gdLst/>
              <a:ahLst/>
              <a:cxnLst/>
              <a:rect l="l" t="t" r="r" b="b"/>
              <a:pathLst>
                <a:path w="12447524" h="4595622">
                  <a:moveTo>
                    <a:pt x="0" y="0"/>
                  </a:moveTo>
                  <a:lnTo>
                    <a:pt x="12447524" y="0"/>
                  </a:lnTo>
                  <a:lnTo>
                    <a:pt x="12447524" y="4595622"/>
                  </a:lnTo>
                  <a:lnTo>
                    <a:pt x="0" y="4595622"/>
                  </a:lnTo>
                  <a:close/>
                </a:path>
              </a:pathLst>
            </a:custGeom>
            <a:solidFill>
              <a:srgbClr val="2B2952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047150" y="5516166"/>
            <a:ext cx="9335691" cy="38100"/>
            <a:chOff x="0" y="0"/>
            <a:chExt cx="12447588" cy="50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447524" cy="50800"/>
            </a:xfrm>
            <a:custGeom>
              <a:avLst/>
              <a:gdLst/>
              <a:ahLst/>
              <a:cxnLst/>
              <a:rect l="l" t="t" r="r" b="b"/>
              <a:pathLst>
                <a:path w="12447524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422124" y="0"/>
                  </a:lnTo>
                  <a:cubicBezTo>
                    <a:pt x="12436094" y="0"/>
                    <a:pt x="12447524" y="11430"/>
                    <a:pt x="12447524" y="25400"/>
                  </a:cubicBezTo>
                  <a:cubicBezTo>
                    <a:pt x="12447524" y="39370"/>
                    <a:pt x="12436094" y="50800"/>
                    <a:pt x="12422124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44426B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346302" y="5796258"/>
            <a:ext cx="44346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9E1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Future Enhancements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6302" y="6329953"/>
            <a:ext cx="8737406" cy="233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Multi-class categorisation</a:t>
            </a:r>
          </a:p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Transformers and BERT-based NLP</a:t>
            </a:r>
          </a:p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Docker + Cloud deployment</a:t>
            </a:r>
          </a:p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Apache Spark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96361" y="1028700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8055636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8"/>
                </a:lnTo>
                <a:lnTo>
                  <a:pt x="0" y="1183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628037" y="8836025"/>
            <a:ext cx="4631263" cy="283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3"/>
              </a:lnSpc>
              <a:spcBef>
                <a:spcPct val="0"/>
              </a:spcBef>
            </a:pPr>
            <a:r>
              <a:rPr lang="en-US" sz="15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Email Categorization Using Hadoop + Mahout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205937"/>
            <a:ext cx="8282942" cy="204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88"/>
              </a:lnSpc>
              <a:spcBef>
                <a:spcPct val="0"/>
              </a:spcBef>
            </a:pPr>
            <a:r>
              <a:rPr lang="en-US" sz="11991" u="none" strike="noStrike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>
            <a:off x="9956627" y="1327093"/>
            <a:ext cx="5457892" cy="6355624"/>
          </a:xfrm>
          <a:custGeom>
            <a:avLst/>
            <a:gdLst/>
            <a:ahLst/>
            <a:cxnLst/>
            <a:rect l="l" t="t" r="r" b="b"/>
            <a:pathLst>
              <a:path w="5457892" h="6355624">
                <a:moveTo>
                  <a:pt x="0" y="0"/>
                </a:moveTo>
                <a:lnTo>
                  <a:pt x="5457892" y="0"/>
                </a:lnTo>
                <a:lnTo>
                  <a:pt x="5457892" y="6355624"/>
                </a:lnTo>
                <a:lnTo>
                  <a:pt x="0" y="6355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393</Words>
  <Application>Microsoft Office PowerPoint</Application>
  <PresentationFormat>Custom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Poppins</vt:lpstr>
      <vt:lpstr>Consolas</vt:lpstr>
      <vt:lpstr>Arial</vt:lpstr>
      <vt:lpstr>Tex Gyre Termes Bold</vt:lpstr>
      <vt:lpstr>Cormorant Garamond</vt:lpstr>
      <vt:lpstr>Tex Gyre Termes</vt:lpstr>
      <vt:lpstr>Arimo</vt:lpstr>
      <vt:lpstr>Arimo Bold</vt:lpstr>
      <vt:lpstr>Cormorant Garamond Bold</vt:lpstr>
      <vt:lpstr>Calibri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M.Tech BigData Project Presentation</dc:title>
  <cp:lastModifiedBy>ajay paikra</cp:lastModifiedBy>
  <cp:revision>2</cp:revision>
  <dcterms:created xsi:type="dcterms:W3CDTF">2006-08-16T00:00:00Z</dcterms:created>
  <dcterms:modified xsi:type="dcterms:W3CDTF">2026-05-16T06:44:55Z</dcterms:modified>
  <dc:identifier>DAHJwpdyKc8</dc:identifier>
</cp:coreProperties>
</file>